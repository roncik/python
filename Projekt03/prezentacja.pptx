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0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80" r:id="rId22"/>
    <p:sldId id="282" r:id="rId23"/>
    <p:sldId id="286" r:id="rId24"/>
    <p:sldId id="287" r:id="rId25"/>
    <p:sldId id="288" r:id="rId26"/>
    <p:sldId id="290" r:id="rId27"/>
    <p:sldId id="289" r:id="rId28"/>
    <p:sldId id="29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3394" autoAdjust="0"/>
  </p:normalViewPr>
  <p:slideViewPr>
    <p:cSldViewPr snapToGrid="0">
      <p:cViewPr varScale="1">
        <p:scale>
          <a:sx n="146" d="100"/>
          <a:sy n="146" d="100"/>
        </p:scale>
        <p:origin x="13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84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68350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2051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6181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7629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459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10856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15825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843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32308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36369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7841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87267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82838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32608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04910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04756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8A592CD-A530-465E-A4AE-6C6A633830EE}" type="datetimeFigureOut">
              <a:rPr lang="en-DE" smtClean="0"/>
              <a:t>03/06/2026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CBD12BC-A5DC-4284-ABA3-3A4F2E99D2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516685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2CA47-B5D9-4F52-8236-7098945B2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210700"/>
            <a:ext cx="9440034" cy="875688"/>
          </a:xfrm>
        </p:spPr>
        <p:txBody>
          <a:bodyPr>
            <a:normAutofit fontScale="90000"/>
          </a:bodyPr>
          <a:lstStyle/>
          <a:p>
            <a:r>
              <a:rPr lang="pl-PL" dirty="0"/>
              <a:t>Projekt 3 - ML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EC66-7192-469B-A52E-6BE0DEE33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983" y="1847915"/>
            <a:ext cx="9440034" cy="1049867"/>
          </a:xfrm>
        </p:spPr>
        <p:txBody>
          <a:bodyPr>
            <a:normAutofit/>
          </a:bodyPr>
          <a:lstStyle/>
          <a:p>
            <a:r>
              <a:rPr lang="pl-PL" sz="2400" dirty="0"/>
              <a:t>Problem przewidzenia anulowania rezerwacji hotelowych.</a:t>
            </a:r>
            <a:endParaRPr lang="en-DE" sz="2400" dirty="0"/>
          </a:p>
        </p:txBody>
      </p:sp>
    </p:spTree>
    <p:extLst>
      <p:ext uri="{BB962C8B-B14F-4D97-AF65-F5344CB8AC3E}">
        <p14:creationId xmlns:p14="http://schemas.microsoft.com/office/powerpoint/2010/main" val="347689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DAED9-241A-4A35-8D29-F50BE0AB1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332" y="595834"/>
            <a:ext cx="8867335" cy="706945"/>
          </a:xfrm>
        </p:spPr>
        <p:txBody>
          <a:bodyPr/>
          <a:lstStyle/>
          <a:p>
            <a:r>
              <a:rPr lang="pl-PL" dirty="0"/>
              <a:t>Odczyt danych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13F0F-7073-4E32-BC93-CA0D71DD2928}"/>
              </a:ext>
            </a:extLst>
          </p:cNvPr>
          <p:cNvSpPr txBox="1"/>
          <p:nvPr/>
        </p:nvSpPr>
        <p:spPr>
          <a:xfrm>
            <a:off x="6197903" y="1510238"/>
            <a:ext cx="2880783" cy="475192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numCol="1" spcCol="360000" rtlCol="0">
            <a:noAutofit/>
          </a:bodyPr>
          <a:lstStyle/>
          <a:p>
            <a:r>
              <a:rPr lang="pl-PL" sz="800" dirty="0">
                <a:latin typeface="Arial Nova Cond" panose="020B0506020202020204" pitchFamily="34" charset="0"/>
              </a:rPr>
              <a:t>RangeIndex: 119390 entries, 0 to 119389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Data columns (total 32 columns):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#   Column                          Non-Null Count   Dtype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---  ------                          --------------   -----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0   hotel                           119390 non-null  object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1   is_canceled                   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2   lead_time                     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3   arrival_date_year             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4   arrival_date_month              119390 non-null  object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5   arrival_date_week_number      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6   arrival_date_day_of_month     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7   stays_in_weekend_nights       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8   stays_in_week_nights          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9   adults                        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</a:t>
            </a:r>
            <a:r>
              <a:rPr lang="pl-PL" sz="800" u="sng" dirty="0">
                <a:latin typeface="Arial Nova Cond" panose="020B0506020202020204" pitchFamily="34" charset="0"/>
              </a:rPr>
              <a:t>10  children                        119386 non-null  float64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11  babies                        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12  meal                            119390 non-null  object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</a:t>
            </a:r>
            <a:r>
              <a:rPr lang="pl-PL" sz="800" u="sng" dirty="0">
                <a:latin typeface="Arial Nova Cond" panose="020B0506020202020204" pitchFamily="34" charset="0"/>
              </a:rPr>
              <a:t>13  country                         118902 non-null  object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14  market_segment                  119390 non-null  object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15  distribution_channel            119390 non-null  object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16  is_repeated_guest             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17  previous_cancellations        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18  previous_bookings_not_canceled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19  reserved_room_type              119390 non-null  object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20  assigned_room_type              119390 non-null  object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21  booking_changes               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22  deposit_type                    119390 non-null  object</a:t>
            </a:r>
          </a:p>
          <a:p>
            <a:r>
              <a:rPr lang="pl-PL" sz="800" u="sng" dirty="0">
                <a:latin typeface="Arial Nova Cond" panose="020B0506020202020204" pitchFamily="34" charset="0"/>
              </a:rPr>
              <a:t> 23  agent                           103050 non-null  float64</a:t>
            </a:r>
          </a:p>
          <a:p>
            <a:r>
              <a:rPr lang="pl-PL" sz="800" u="sng" dirty="0">
                <a:latin typeface="Arial Nova Cond" panose="020B0506020202020204" pitchFamily="34" charset="0"/>
              </a:rPr>
              <a:t> 24  company                         6797 non-null    float64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25  days_in_waiting_list          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26  customer_type                   119390 non-null  object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27  adr                             119390 non-null  float64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28  required_car_parking_spaces   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29  total_of_special_requests       119390 non-null  int64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30  reservation_status              119390 non-null  object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 31  reservation_status_date         119390 non-null  object</a:t>
            </a:r>
          </a:p>
          <a:p>
            <a:r>
              <a:rPr lang="pl-PL" sz="800" dirty="0">
                <a:latin typeface="Arial Nova Cond" panose="020B0506020202020204" pitchFamily="34" charset="0"/>
              </a:rPr>
              <a:t>dtypes: float64(4), int64(16), object(12)</a:t>
            </a:r>
            <a:endParaRPr lang="en-DE" sz="800" dirty="0">
              <a:latin typeface="Arial Nova Cond" panose="020B0506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EAB537-069B-42AC-9B3A-CF5B4957878C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5468702" y="2397165"/>
            <a:ext cx="7292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2DF2659-B3D1-4D0F-BB63-5B8DD7521EB6}"/>
              </a:ext>
            </a:extLst>
          </p:cNvPr>
          <p:cNvSpPr txBox="1"/>
          <p:nvPr/>
        </p:nvSpPr>
        <p:spPr>
          <a:xfrm>
            <a:off x="633146" y="4265972"/>
            <a:ext cx="4902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Jak widać występują wartości null.</a:t>
            </a:r>
          </a:p>
          <a:p>
            <a:r>
              <a:rPr lang="pl-PL" dirty="0"/>
              <a:t>Będzie trzeba je zastąpić zerami(następny slajd).</a:t>
            </a:r>
            <a:endParaRPr lang="en-DE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D11DA16-ECF9-4EBE-A3BC-7171D8831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806" y="2057455"/>
            <a:ext cx="4251896" cy="67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97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8B4CC-EAE6-450C-A37C-D1DDCB96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3029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pl-PL" dirty="0"/>
              <a:t>Wizualizacja wartości null i zastąpienie ich zerami</a:t>
            </a:r>
            <a:endParaRPr lang="en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E53903-4003-4D90-B2F1-A864D4676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072" y="1463757"/>
            <a:ext cx="5599146" cy="245581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38356F-966E-43A6-BAF6-B194FAB34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9" y="1474770"/>
            <a:ext cx="3360745" cy="24448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5D7381-0B2B-4725-A9CC-1AAE69BF52FB}"/>
              </a:ext>
            </a:extLst>
          </p:cNvPr>
          <p:cNvSpPr txBox="1"/>
          <p:nvPr/>
        </p:nvSpPr>
        <p:spPr>
          <a:xfrm>
            <a:off x="8196382" y="1068813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Przed</a:t>
            </a:r>
            <a:endParaRPr lang="en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86567A-2AFD-47C3-9AB6-BA8239698E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072" y="4335312"/>
            <a:ext cx="5599146" cy="22396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88AA45-3DB7-4FBF-8E5B-D7535A6B2061}"/>
              </a:ext>
            </a:extLst>
          </p:cNvPr>
          <p:cNvSpPr txBox="1"/>
          <p:nvPr/>
        </p:nvSpPr>
        <p:spPr>
          <a:xfrm>
            <a:off x="8349629" y="3965980"/>
            <a:ext cx="444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Po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157110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7D28C-5501-4CAE-8DE1-4F9AE95E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970450"/>
          </a:xfrm>
        </p:spPr>
        <p:txBody>
          <a:bodyPr/>
          <a:lstStyle/>
          <a:p>
            <a:r>
              <a:rPr lang="pl-PL" dirty="0"/>
              <a:t>Wstępny preprocessing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7076D-52D0-48B8-BF68-B324995B7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66800"/>
            <a:ext cx="10353762" cy="4058751"/>
          </a:xfrm>
        </p:spPr>
        <p:txBody>
          <a:bodyPr/>
          <a:lstStyle/>
          <a:p>
            <a:pPr marL="36900" indent="0">
              <a:buNone/>
            </a:pPr>
            <a:r>
              <a:rPr lang="pl-PL" dirty="0"/>
              <a:t>Wartości kolumn </a:t>
            </a:r>
            <a:r>
              <a:rPr lang="pl-PL" b="1" dirty="0"/>
              <a:t>adults</a:t>
            </a:r>
            <a:r>
              <a:rPr lang="pl-PL" dirty="0"/>
              <a:t>, </a:t>
            </a:r>
            <a:r>
              <a:rPr lang="pl-PL" b="1" dirty="0"/>
              <a:t>babies</a:t>
            </a:r>
            <a:r>
              <a:rPr lang="pl-PL" dirty="0"/>
              <a:t> i </a:t>
            </a:r>
            <a:r>
              <a:rPr lang="pl-PL" b="1" dirty="0"/>
              <a:t>children</a:t>
            </a:r>
            <a:r>
              <a:rPr lang="pl-PL" dirty="0"/>
              <a:t> nie mogą wszystkie być zerami dla danego wpisu. Odfiltrowujemy takie wpisy.</a:t>
            </a:r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6A9103-958E-4C8B-9E7D-0C32179F4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354" y="2514472"/>
            <a:ext cx="8554644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367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3F906-E249-4538-AF03-3834AA59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Eksploracyjna analiza danych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D004E-F9D7-4CC2-A5D8-2F8C49D9F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508" y="1863078"/>
            <a:ext cx="9608336" cy="4058751"/>
          </a:xfrm>
        </p:spPr>
        <p:txBody>
          <a:bodyPr/>
          <a:lstStyle/>
          <a:p>
            <a:pPr marL="36900" indent="0">
              <a:buNone/>
            </a:pPr>
            <a:r>
              <a:rPr lang="pl-PL" dirty="0"/>
              <a:t>Na kolejnych kilku slajdach zwizualizowano co właściwie pokazują analizowane dane.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081718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108" y="76478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Z jakiego kraju jest najwięcej gości?</a:t>
            </a:r>
            <a:endParaRPr lang="en-DE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2DBEC9-DE9C-4809-A4EB-4D0EA8602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04" y="2181495"/>
            <a:ext cx="8832436" cy="43849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ED78AC-B5CC-4485-8C8A-EB742325D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04" y="856432"/>
            <a:ext cx="7178040" cy="11111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E43945-6773-449E-879C-7981D7B69487}"/>
              </a:ext>
            </a:extLst>
          </p:cNvPr>
          <p:cNvSpPr txBox="1"/>
          <p:nvPr/>
        </p:nvSpPr>
        <p:spPr>
          <a:xfrm>
            <a:off x="9347446" y="3363685"/>
            <a:ext cx="28445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Jak widać najwięcej gości</a:t>
            </a:r>
          </a:p>
          <a:p>
            <a:r>
              <a:rPr lang="pl-PL" dirty="0"/>
              <a:t>jest z Europy Zachodniej, szczególnie z Portugalii.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32151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-57001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Ile goście płacą za noc w hotelu?</a:t>
            </a:r>
            <a:endParaRPr lang="en-DE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9BB3BC-FB09-4C61-B54F-32521B109637}"/>
              </a:ext>
            </a:extLst>
          </p:cNvPr>
          <p:cNvSpPr txBox="1"/>
          <p:nvPr/>
        </p:nvSpPr>
        <p:spPr>
          <a:xfrm>
            <a:off x="458404" y="644989"/>
            <a:ext cx="5589699" cy="28256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l-PL" sz="1400" dirty="0"/>
              <a:t>ADR(Average-Daily-Rate) – jeden z podstawowych wskaźników w hotelarstwie. Oznacza średni przychód z wynajętego pokoju za jedną noc.</a:t>
            </a:r>
          </a:p>
          <a:p>
            <a:endParaRPr lang="pl-PL" sz="1400" dirty="0"/>
          </a:p>
          <a:p>
            <a:r>
              <a:rPr lang="pl-PL" sz="1400" dirty="0"/>
              <a:t>Wyższy ADR - hotel sprzedaje pokoje po wyższych cenach.</a:t>
            </a:r>
          </a:p>
          <a:p>
            <a:r>
              <a:rPr lang="pl-PL" sz="1400" dirty="0"/>
              <a:t>Niższy ADR - ceny są niższe lub stosowane są większe rabaty.</a:t>
            </a:r>
          </a:p>
          <a:p>
            <a:endParaRPr lang="en-DE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58202B-F769-4793-8483-1EAC7A244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04" y="2194560"/>
            <a:ext cx="8753500" cy="43457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7BF8461-A9A6-41BE-81C9-DBD2B0056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103" y="733975"/>
            <a:ext cx="5589699" cy="9712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5A7F11-C291-4011-AC82-B6AAFF8455B7}"/>
              </a:ext>
            </a:extLst>
          </p:cNvPr>
          <p:cNvSpPr txBox="1"/>
          <p:nvPr/>
        </p:nvSpPr>
        <p:spPr>
          <a:xfrm>
            <a:off x="9211904" y="2194560"/>
            <a:ext cx="29800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Room type – w tym zbiorze danych to zanonimizowane litery oznaczające kategorię pokoju</a:t>
            </a:r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25369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-13063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Ceny hoteli w każdym miesiącu</a:t>
            </a:r>
            <a:endParaRPr lang="en-D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0554D-CDC5-4A40-838C-DF9EF3771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38" y="2351315"/>
            <a:ext cx="9722708" cy="44683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2AA075-4AC1-4021-A235-7372A71F0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38" y="552323"/>
            <a:ext cx="4204405" cy="179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33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-57001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W których miesiącach jest najwięcej rezerwacji?</a:t>
            </a:r>
            <a:endParaRPr lang="en-D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529608-119E-415A-9BCD-89E9FF784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09" y="522119"/>
            <a:ext cx="5048794" cy="19470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D5E87D-AC58-4B43-8E18-3291C10000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258" y="2521133"/>
            <a:ext cx="9032569" cy="421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04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-57001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Jak długo goście zostają w hotelach?</a:t>
            </a:r>
            <a:endParaRPr lang="en-D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23A04C-227D-4301-822D-C24227A16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97" y="2534194"/>
            <a:ext cx="10254343" cy="43238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4151EF-13DD-4F4C-B95E-48D59B4A0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97" y="600496"/>
            <a:ext cx="6270957" cy="192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44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DAED9-241A-4A35-8D29-F50BE0AB1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332" y="595834"/>
            <a:ext cx="8867335" cy="706945"/>
          </a:xfrm>
        </p:spPr>
        <p:txBody>
          <a:bodyPr/>
          <a:lstStyle/>
          <a:p>
            <a:r>
              <a:rPr lang="pl-PL" dirty="0"/>
              <a:t>Preprocessing danych</a:t>
            </a:r>
            <a:endParaRPr lang="en-D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264341-C136-4F3F-8375-CB58847B3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960" y="1510381"/>
            <a:ext cx="9080078" cy="4058751"/>
          </a:xfrm>
        </p:spPr>
        <p:txBody>
          <a:bodyPr/>
          <a:lstStyle/>
          <a:p>
            <a:pPr marL="36900" indent="0">
              <a:buNone/>
            </a:pPr>
            <a:r>
              <a:rPr lang="pl-PL" dirty="0"/>
              <a:t>Na kolejnych slajdach zaprezentowano preprocessing który wykonano na danych.</a:t>
            </a:r>
          </a:p>
          <a:p>
            <a:pPr marL="36900" indent="0">
              <a:buNone/>
            </a:pPr>
            <a:r>
              <a:rPr lang="pl-PL" sz="1600" dirty="0"/>
              <a:t>(Wcześniej zastąpiono wartości null zerami oraz odfiltrowano wpisy gdzie adults, children i babies były zerami jednocześnie)</a:t>
            </a:r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811287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84630"/>
            <a:ext cx="9151136" cy="657497"/>
          </a:xfrm>
        </p:spPr>
        <p:txBody>
          <a:bodyPr>
            <a:normAutofit fontScale="90000"/>
          </a:bodyPr>
          <a:lstStyle/>
          <a:p>
            <a:r>
              <a:rPr lang="pl-PL" sz="2800" dirty="0"/>
              <a:t>Sprawdzenie korelacji dla rezerwacji odwołanych</a:t>
            </a:r>
            <a:br>
              <a:rPr lang="pl-PL" sz="2800" dirty="0"/>
            </a:br>
            <a:r>
              <a:rPr lang="pl-PL" sz="2800" dirty="0"/>
              <a:t>i odrzucenie nieznaczących kolumn</a:t>
            </a:r>
            <a:endParaRPr lang="en-D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0EED6-5392-404C-B7C3-11E5F10F2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97" y="941553"/>
            <a:ext cx="8428848" cy="5596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CD76BD-93FB-46EA-81F4-81A6DFB5D652}"/>
              </a:ext>
            </a:extLst>
          </p:cNvPr>
          <p:cNvSpPr txBox="1"/>
          <p:nvPr/>
        </p:nvSpPr>
        <p:spPr>
          <a:xfrm>
            <a:off x="515197" y="1830277"/>
            <a:ext cx="3736400" cy="380634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numCol="1" spcCol="360000" rtlCol="0">
            <a:noAutofit/>
          </a:bodyPr>
          <a:lstStyle/>
          <a:p>
            <a:r>
              <a:rPr lang="en-US" sz="1200" dirty="0" err="1">
                <a:latin typeface="Arial Nova Cond" panose="020B0506020202020204" pitchFamily="34" charset="0"/>
              </a:rPr>
              <a:t>is_canceled</a:t>
            </a:r>
            <a:r>
              <a:rPr lang="en-US" sz="1200" dirty="0">
                <a:latin typeface="Arial Nova Cond" panose="020B0506020202020204" pitchFamily="34" charset="0"/>
              </a:rPr>
              <a:t>                       </a:t>
            </a:r>
            <a:r>
              <a:rPr lang="pl-PL" sz="1200" dirty="0">
                <a:latin typeface="Arial Nova Cond" panose="020B0506020202020204" pitchFamily="34" charset="0"/>
              </a:rPr>
              <a:t>		</a:t>
            </a:r>
            <a:r>
              <a:rPr lang="en-US" sz="1200" dirty="0">
                <a:latin typeface="Arial Nova Cond" panose="020B0506020202020204" pitchFamily="34" charset="0"/>
              </a:rPr>
              <a:t>1.000000</a:t>
            </a:r>
          </a:p>
          <a:p>
            <a:r>
              <a:rPr lang="en-US" sz="1200" dirty="0" err="1">
                <a:latin typeface="Arial Nova Cond" panose="020B0506020202020204" pitchFamily="34" charset="0"/>
              </a:rPr>
              <a:t>lead_time</a:t>
            </a:r>
            <a:r>
              <a:rPr lang="en-US" sz="1200" dirty="0">
                <a:latin typeface="Arial Nova Cond" panose="020B0506020202020204" pitchFamily="34" charset="0"/>
              </a:rPr>
              <a:t>                         </a:t>
            </a:r>
            <a:r>
              <a:rPr lang="pl-PL" sz="1200" dirty="0">
                <a:latin typeface="Arial Nova Cond" panose="020B0506020202020204" pitchFamily="34" charset="0"/>
              </a:rPr>
              <a:t>		</a:t>
            </a:r>
            <a:r>
              <a:rPr lang="en-US" sz="1200" dirty="0">
                <a:latin typeface="Arial Nova Cond" panose="020B0506020202020204" pitchFamily="34" charset="0"/>
              </a:rPr>
              <a:t>0.292876</a:t>
            </a:r>
          </a:p>
          <a:p>
            <a:r>
              <a:rPr lang="en-US" sz="1200" dirty="0" err="1">
                <a:latin typeface="Arial Nova Cond" panose="020B0506020202020204" pitchFamily="34" charset="0"/>
              </a:rPr>
              <a:t>total_of_special_requests</a:t>
            </a:r>
            <a:r>
              <a:rPr lang="en-US" sz="1200" dirty="0">
                <a:latin typeface="Arial Nova Cond" panose="020B0506020202020204" pitchFamily="34" charset="0"/>
              </a:rPr>
              <a:t>         </a:t>
            </a:r>
            <a:r>
              <a:rPr lang="pl-PL" sz="1200" dirty="0">
                <a:latin typeface="Arial Nova Cond" panose="020B0506020202020204" pitchFamily="34" charset="0"/>
              </a:rPr>
              <a:t>	</a:t>
            </a:r>
            <a:r>
              <a:rPr lang="en-US" sz="1200" dirty="0">
                <a:latin typeface="Arial Nova Cond" panose="020B0506020202020204" pitchFamily="34" charset="0"/>
              </a:rPr>
              <a:t>0.234877</a:t>
            </a:r>
          </a:p>
          <a:p>
            <a:r>
              <a:rPr lang="en-US" sz="1200" dirty="0" err="1">
                <a:latin typeface="Arial Nova Cond" panose="020B0506020202020204" pitchFamily="34" charset="0"/>
              </a:rPr>
              <a:t>required_car_parking_spaces</a:t>
            </a:r>
            <a:r>
              <a:rPr lang="en-US" sz="1200" dirty="0">
                <a:latin typeface="Arial Nova Cond" panose="020B0506020202020204" pitchFamily="34" charset="0"/>
              </a:rPr>
              <a:t>       </a:t>
            </a:r>
            <a:r>
              <a:rPr lang="pl-PL" sz="1200" dirty="0">
                <a:latin typeface="Arial Nova Cond" panose="020B0506020202020204" pitchFamily="34" charset="0"/>
              </a:rPr>
              <a:t>	</a:t>
            </a:r>
            <a:r>
              <a:rPr lang="en-US" sz="1200" dirty="0">
                <a:latin typeface="Arial Nova Cond" panose="020B0506020202020204" pitchFamily="34" charset="0"/>
              </a:rPr>
              <a:t>0.195701</a:t>
            </a:r>
          </a:p>
          <a:p>
            <a:r>
              <a:rPr lang="en-US" sz="1200" dirty="0" err="1">
                <a:latin typeface="Arial Nova Cond" panose="020B0506020202020204" pitchFamily="34" charset="0"/>
              </a:rPr>
              <a:t>booking_changes</a:t>
            </a:r>
            <a:r>
              <a:rPr lang="en-US" sz="1200" dirty="0">
                <a:latin typeface="Arial Nova Cond" panose="020B0506020202020204" pitchFamily="34" charset="0"/>
              </a:rPr>
              <a:t>                   </a:t>
            </a:r>
            <a:r>
              <a:rPr lang="pl-PL" sz="1200" dirty="0">
                <a:latin typeface="Arial Nova Cond" panose="020B0506020202020204" pitchFamily="34" charset="0"/>
              </a:rPr>
              <a:t>	</a:t>
            </a:r>
            <a:r>
              <a:rPr lang="en-US" sz="1200" dirty="0">
                <a:latin typeface="Arial Nova Cond" panose="020B0506020202020204" pitchFamily="34" charset="0"/>
              </a:rPr>
              <a:t>0.144832</a:t>
            </a:r>
          </a:p>
          <a:p>
            <a:r>
              <a:rPr lang="en-US" sz="1200" dirty="0" err="1">
                <a:latin typeface="Arial Nova Cond" panose="020B0506020202020204" pitchFamily="34" charset="0"/>
              </a:rPr>
              <a:t>previous_cancellations</a:t>
            </a:r>
            <a:r>
              <a:rPr lang="en-US" sz="1200" dirty="0">
                <a:latin typeface="Arial Nova Cond" panose="020B0506020202020204" pitchFamily="34" charset="0"/>
              </a:rPr>
              <a:t>            </a:t>
            </a:r>
            <a:r>
              <a:rPr lang="pl-PL" sz="1200" dirty="0">
                <a:latin typeface="Arial Nova Cond" panose="020B0506020202020204" pitchFamily="34" charset="0"/>
              </a:rPr>
              <a:t>	</a:t>
            </a:r>
            <a:r>
              <a:rPr lang="en-US" sz="1200" dirty="0">
                <a:latin typeface="Arial Nova Cond" panose="020B0506020202020204" pitchFamily="34" charset="0"/>
              </a:rPr>
              <a:t>0.110139</a:t>
            </a:r>
          </a:p>
          <a:p>
            <a:r>
              <a:rPr lang="en-US" sz="1200" dirty="0" err="1">
                <a:latin typeface="Arial Nova Cond" panose="020B0506020202020204" pitchFamily="34" charset="0"/>
              </a:rPr>
              <a:t>is_repeated_guest</a:t>
            </a:r>
            <a:r>
              <a:rPr lang="en-US" sz="1200" dirty="0">
                <a:latin typeface="Arial Nova Cond" panose="020B0506020202020204" pitchFamily="34" charset="0"/>
              </a:rPr>
              <a:t>                 </a:t>
            </a:r>
            <a:r>
              <a:rPr lang="pl-PL" sz="1200" dirty="0">
                <a:latin typeface="Arial Nova Cond" panose="020B0506020202020204" pitchFamily="34" charset="0"/>
              </a:rPr>
              <a:t>		</a:t>
            </a:r>
            <a:r>
              <a:rPr lang="en-US" sz="1200" dirty="0">
                <a:latin typeface="Arial Nova Cond" panose="020B0506020202020204" pitchFamily="34" charset="0"/>
              </a:rPr>
              <a:t>0.083745</a:t>
            </a:r>
          </a:p>
          <a:p>
            <a:r>
              <a:rPr lang="en-US" sz="1200" dirty="0">
                <a:latin typeface="Arial Nova Cond" panose="020B0506020202020204" pitchFamily="34" charset="0"/>
              </a:rPr>
              <a:t>company                           </a:t>
            </a:r>
            <a:r>
              <a:rPr lang="pl-PL" sz="1200" dirty="0">
                <a:latin typeface="Arial Nova Cond" panose="020B0506020202020204" pitchFamily="34" charset="0"/>
              </a:rPr>
              <a:t>		</a:t>
            </a:r>
            <a:r>
              <a:rPr lang="en-US" sz="1200" dirty="0">
                <a:latin typeface="Arial Nova Cond" panose="020B0506020202020204" pitchFamily="34" charset="0"/>
              </a:rPr>
              <a:t>0.083594</a:t>
            </a:r>
          </a:p>
          <a:p>
            <a:r>
              <a:rPr lang="en-US" sz="1200" dirty="0">
                <a:latin typeface="Arial Nova Cond" panose="020B0506020202020204" pitchFamily="34" charset="0"/>
              </a:rPr>
              <a:t>adults                            </a:t>
            </a:r>
            <a:r>
              <a:rPr lang="pl-PL" sz="1200" dirty="0">
                <a:latin typeface="Arial Nova Cond" panose="020B0506020202020204" pitchFamily="34" charset="0"/>
              </a:rPr>
              <a:t>		</a:t>
            </a:r>
            <a:r>
              <a:rPr lang="en-US" sz="1200" dirty="0">
                <a:latin typeface="Arial Nova Cond" panose="020B0506020202020204" pitchFamily="34" charset="0"/>
              </a:rPr>
              <a:t>0.058182</a:t>
            </a:r>
          </a:p>
          <a:p>
            <a:r>
              <a:rPr lang="en-US" sz="1200" dirty="0" err="1">
                <a:latin typeface="Arial Nova Cond" panose="020B0506020202020204" pitchFamily="34" charset="0"/>
              </a:rPr>
              <a:t>previous_bookings_not_canceled</a:t>
            </a:r>
            <a:r>
              <a:rPr lang="en-US" sz="1200" dirty="0">
                <a:latin typeface="Arial Nova Cond" panose="020B0506020202020204" pitchFamily="34" charset="0"/>
              </a:rPr>
              <a:t>    </a:t>
            </a:r>
            <a:r>
              <a:rPr lang="pl-PL" sz="1200" dirty="0">
                <a:latin typeface="Arial Nova Cond" panose="020B0506020202020204" pitchFamily="34" charset="0"/>
              </a:rPr>
              <a:t>	</a:t>
            </a:r>
            <a:r>
              <a:rPr lang="en-US" sz="1200" dirty="0">
                <a:latin typeface="Arial Nova Cond" panose="020B0506020202020204" pitchFamily="34" charset="0"/>
              </a:rPr>
              <a:t>0.057365</a:t>
            </a:r>
          </a:p>
          <a:p>
            <a:r>
              <a:rPr lang="en-US" sz="1200" dirty="0" err="1">
                <a:latin typeface="Arial Nova Cond" panose="020B0506020202020204" pitchFamily="34" charset="0"/>
              </a:rPr>
              <a:t>days_in_waiting_list</a:t>
            </a:r>
            <a:r>
              <a:rPr lang="en-US" sz="1200" dirty="0">
                <a:latin typeface="Arial Nova Cond" panose="020B0506020202020204" pitchFamily="34" charset="0"/>
              </a:rPr>
              <a:t>              </a:t>
            </a:r>
            <a:r>
              <a:rPr lang="pl-PL" sz="1200" dirty="0">
                <a:latin typeface="Arial Nova Cond" panose="020B0506020202020204" pitchFamily="34" charset="0"/>
              </a:rPr>
              <a:t>		</a:t>
            </a:r>
            <a:r>
              <a:rPr lang="en-US" sz="1200" dirty="0">
                <a:latin typeface="Arial Nova Cond" panose="020B0506020202020204" pitchFamily="34" charset="0"/>
              </a:rPr>
              <a:t>0.054301</a:t>
            </a:r>
          </a:p>
          <a:p>
            <a:r>
              <a:rPr lang="en-US" sz="1200" dirty="0">
                <a:latin typeface="Arial Nova Cond" panose="020B0506020202020204" pitchFamily="34" charset="0"/>
              </a:rPr>
              <a:t>agent                             </a:t>
            </a:r>
            <a:r>
              <a:rPr lang="pl-PL" sz="1200" dirty="0">
                <a:latin typeface="Arial Nova Cond" panose="020B0506020202020204" pitchFamily="34" charset="0"/>
              </a:rPr>
              <a:t>		</a:t>
            </a:r>
            <a:r>
              <a:rPr lang="en-US" sz="1200" dirty="0">
                <a:latin typeface="Arial Nova Cond" panose="020B0506020202020204" pitchFamily="34" charset="0"/>
              </a:rPr>
              <a:t>0.046770</a:t>
            </a:r>
          </a:p>
          <a:p>
            <a:r>
              <a:rPr lang="en-US" sz="1200" dirty="0" err="1">
                <a:latin typeface="Arial Nova Cond" panose="020B0506020202020204" pitchFamily="34" charset="0"/>
              </a:rPr>
              <a:t>adr</a:t>
            </a:r>
            <a:r>
              <a:rPr lang="en-US" sz="1200" dirty="0">
                <a:latin typeface="Arial Nova Cond" panose="020B0506020202020204" pitchFamily="34" charset="0"/>
              </a:rPr>
              <a:t>                               </a:t>
            </a:r>
            <a:r>
              <a:rPr lang="pl-PL" sz="1200" dirty="0">
                <a:latin typeface="Arial Nova Cond" panose="020B0506020202020204" pitchFamily="34" charset="0"/>
              </a:rPr>
              <a:t>		</a:t>
            </a:r>
            <a:r>
              <a:rPr lang="en-US" sz="1200" dirty="0">
                <a:latin typeface="Arial Nova Cond" panose="020B0506020202020204" pitchFamily="34" charset="0"/>
              </a:rPr>
              <a:t>0.046492</a:t>
            </a:r>
          </a:p>
          <a:p>
            <a:r>
              <a:rPr lang="en-US" sz="1200" dirty="0">
                <a:latin typeface="Arial Nova Cond" panose="020B0506020202020204" pitchFamily="34" charset="0"/>
              </a:rPr>
              <a:t>babies                            </a:t>
            </a:r>
            <a:r>
              <a:rPr lang="pl-PL" sz="1200" dirty="0">
                <a:latin typeface="Arial Nova Cond" panose="020B0506020202020204" pitchFamily="34" charset="0"/>
              </a:rPr>
              <a:t>		</a:t>
            </a:r>
            <a:r>
              <a:rPr lang="en-US" sz="1200" dirty="0">
                <a:latin typeface="Arial Nova Cond" panose="020B0506020202020204" pitchFamily="34" charset="0"/>
              </a:rPr>
              <a:t>0.032569</a:t>
            </a:r>
          </a:p>
          <a:p>
            <a:r>
              <a:rPr lang="en-US" sz="1200" dirty="0" err="1">
                <a:latin typeface="Arial Nova Cond" panose="020B0506020202020204" pitchFamily="34" charset="0"/>
              </a:rPr>
              <a:t>stays_in_week_nights</a:t>
            </a:r>
            <a:r>
              <a:rPr lang="en-US" sz="1200" dirty="0">
                <a:latin typeface="Arial Nova Cond" panose="020B0506020202020204" pitchFamily="34" charset="0"/>
              </a:rPr>
              <a:t>              </a:t>
            </a:r>
            <a:r>
              <a:rPr lang="pl-PL" sz="1200" dirty="0">
                <a:latin typeface="Arial Nova Cond" panose="020B0506020202020204" pitchFamily="34" charset="0"/>
              </a:rPr>
              <a:t>	</a:t>
            </a:r>
            <a:r>
              <a:rPr lang="en-US" sz="1200" dirty="0">
                <a:latin typeface="Arial Nova Cond" panose="020B0506020202020204" pitchFamily="34" charset="0"/>
              </a:rPr>
              <a:t>0.025542</a:t>
            </a:r>
          </a:p>
          <a:p>
            <a:r>
              <a:rPr lang="en-US" sz="1200" dirty="0" err="1">
                <a:latin typeface="Arial Nova Cond" panose="020B0506020202020204" pitchFamily="34" charset="0"/>
              </a:rPr>
              <a:t>arrival_date_year</a:t>
            </a:r>
            <a:r>
              <a:rPr lang="en-US" sz="1200" dirty="0">
                <a:latin typeface="Arial Nova Cond" panose="020B0506020202020204" pitchFamily="34" charset="0"/>
              </a:rPr>
              <a:t>                 </a:t>
            </a:r>
            <a:r>
              <a:rPr lang="pl-PL" sz="1200" dirty="0">
                <a:latin typeface="Arial Nova Cond" panose="020B0506020202020204" pitchFamily="34" charset="0"/>
              </a:rPr>
              <a:t>		</a:t>
            </a:r>
            <a:r>
              <a:rPr lang="en-US" sz="1200" dirty="0">
                <a:latin typeface="Arial Nova Cond" panose="020B0506020202020204" pitchFamily="34" charset="0"/>
              </a:rPr>
              <a:t>0.016622</a:t>
            </a:r>
          </a:p>
          <a:p>
            <a:r>
              <a:rPr lang="en-US" sz="1200" dirty="0" err="1">
                <a:latin typeface="Arial Nova Cond" panose="020B0506020202020204" pitchFamily="34" charset="0"/>
              </a:rPr>
              <a:t>arrival_date_week_number</a:t>
            </a:r>
            <a:r>
              <a:rPr lang="en-US" sz="1200" dirty="0">
                <a:latin typeface="Arial Nova Cond" panose="020B0506020202020204" pitchFamily="34" charset="0"/>
              </a:rPr>
              <a:t>          </a:t>
            </a:r>
            <a:r>
              <a:rPr lang="pl-PL" sz="1200" dirty="0">
                <a:latin typeface="Arial Nova Cond" panose="020B0506020202020204" pitchFamily="34" charset="0"/>
              </a:rPr>
              <a:t>	</a:t>
            </a:r>
            <a:r>
              <a:rPr lang="en-US" sz="1200" dirty="0">
                <a:latin typeface="Arial Nova Cond" panose="020B0506020202020204" pitchFamily="34" charset="0"/>
              </a:rPr>
              <a:t>0.008315</a:t>
            </a:r>
          </a:p>
          <a:p>
            <a:r>
              <a:rPr lang="en-US" sz="1200" dirty="0" err="1">
                <a:latin typeface="Arial Nova Cond" panose="020B0506020202020204" pitchFamily="34" charset="0"/>
              </a:rPr>
              <a:t>arrival_date_day_of_month</a:t>
            </a:r>
            <a:r>
              <a:rPr lang="en-US" sz="1200" dirty="0">
                <a:latin typeface="Arial Nova Cond" panose="020B0506020202020204" pitchFamily="34" charset="0"/>
              </a:rPr>
              <a:t>         </a:t>
            </a:r>
            <a:r>
              <a:rPr lang="pl-PL" sz="1200" dirty="0">
                <a:latin typeface="Arial Nova Cond" panose="020B0506020202020204" pitchFamily="34" charset="0"/>
              </a:rPr>
              <a:t>	</a:t>
            </a:r>
            <a:r>
              <a:rPr lang="en-US" sz="1200" dirty="0">
                <a:latin typeface="Arial Nova Cond" panose="020B0506020202020204" pitchFamily="34" charset="0"/>
              </a:rPr>
              <a:t>0.005948</a:t>
            </a:r>
          </a:p>
          <a:p>
            <a:r>
              <a:rPr lang="en-US" sz="1200" dirty="0">
                <a:latin typeface="Arial Nova Cond" panose="020B0506020202020204" pitchFamily="34" charset="0"/>
              </a:rPr>
              <a:t>children                          </a:t>
            </a:r>
            <a:r>
              <a:rPr lang="pl-PL" sz="1200" dirty="0">
                <a:latin typeface="Arial Nova Cond" panose="020B0506020202020204" pitchFamily="34" charset="0"/>
              </a:rPr>
              <a:t>		</a:t>
            </a:r>
            <a:r>
              <a:rPr lang="en-US" sz="1200" dirty="0">
                <a:latin typeface="Arial Nova Cond" panose="020B0506020202020204" pitchFamily="34" charset="0"/>
              </a:rPr>
              <a:t>0.004851</a:t>
            </a:r>
          </a:p>
          <a:p>
            <a:r>
              <a:rPr lang="en-US" sz="1200" dirty="0" err="1">
                <a:latin typeface="Arial Nova Cond" panose="020B0506020202020204" pitchFamily="34" charset="0"/>
              </a:rPr>
              <a:t>stays_in_weekend_nights</a:t>
            </a:r>
            <a:r>
              <a:rPr lang="en-US" sz="1200" dirty="0">
                <a:latin typeface="Arial Nova Cond" panose="020B0506020202020204" pitchFamily="34" charset="0"/>
              </a:rPr>
              <a:t>           </a:t>
            </a:r>
            <a:r>
              <a:rPr lang="pl-PL" sz="1200" dirty="0">
                <a:latin typeface="Arial Nova Cond" panose="020B0506020202020204" pitchFamily="34" charset="0"/>
              </a:rPr>
              <a:t>	</a:t>
            </a:r>
            <a:r>
              <a:rPr lang="en-US" sz="1200" dirty="0">
                <a:latin typeface="Arial Nova Cond" panose="020B0506020202020204" pitchFamily="34" charset="0"/>
              </a:rPr>
              <a:t>0.001323</a:t>
            </a:r>
            <a:endParaRPr lang="en-DE" sz="1200" dirty="0">
              <a:latin typeface="Arial Nova Cond" panose="020B0506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DAFCF6-9319-4C11-81BF-2C767CCC52E3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2383397" y="1501201"/>
            <a:ext cx="0" cy="329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41CC4AE-E338-46D4-82BF-2E8E93E54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545" y="1870120"/>
            <a:ext cx="6281842" cy="7248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5F9AB8C-6384-4DDA-8E9C-24499B33A41C}"/>
              </a:ext>
            </a:extLst>
          </p:cNvPr>
          <p:cNvSpPr txBox="1"/>
          <p:nvPr/>
        </p:nvSpPr>
        <p:spPr>
          <a:xfrm>
            <a:off x="4482629" y="2779201"/>
            <a:ext cx="63007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PS. Odrzucamy „booking_changes” mimo relatywnie wysokiej korelacji ponieważ próbujemy przewidzieć czy dana rezerwacja zostanie anulowana </a:t>
            </a:r>
            <a:r>
              <a:rPr lang="pl-PL" b="1" dirty="0"/>
              <a:t>w momencie jej złożenia </a:t>
            </a:r>
            <a:r>
              <a:rPr lang="pl-PL" dirty="0"/>
              <a:t>a booking_changes w takim scenariuszu zawierałoby dane „z przyszłości”.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146202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84630"/>
            <a:ext cx="9151136" cy="657497"/>
          </a:xfrm>
        </p:spPr>
        <p:txBody>
          <a:bodyPr>
            <a:normAutofit fontScale="90000"/>
          </a:bodyPr>
          <a:lstStyle/>
          <a:p>
            <a:r>
              <a:rPr lang="pl-PL" sz="2800" dirty="0"/>
              <a:t>Stworzenie kategorycznych i numerycznych ramek(dataframe)</a:t>
            </a:r>
            <a:endParaRPr lang="en-DE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FDAB48-316F-4F08-8A71-22D932D46B29}"/>
              </a:ext>
            </a:extLst>
          </p:cNvPr>
          <p:cNvSpPr txBox="1"/>
          <p:nvPr/>
        </p:nvSpPr>
        <p:spPr>
          <a:xfrm>
            <a:off x="2005345" y="2752186"/>
            <a:ext cx="7930946" cy="923330"/>
          </a:xfrm>
          <a:prstGeom prst="rect">
            <a:avLst/>
          </a:prstGeom>
          <a:noFill/>
          <a:ln w="12700">
            <a:solidFill>
              <a:schemeClr val="accent1">
                <a:shade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l-PL" dirty="0"/>
              <a:t>['hotel', 'arrival_date_month', 'meal', 'country', 'market_segment', 'distribution_channel', 'reserved_room_type', 'assigned_room_type', 'deposit_type', 'customer_type', 'reservation_status', 'reservation_status_date']</a:t>
            </a:r>
            <a:endParaRPr lang="en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329F58-570C-414E-82F0-A59A2EC72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260" y="903694"/>
            <a:ext cx="8183117" cy="131463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26CFEAB-A28A-49F1-8787-2C1E4291CE1F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 flipH="1">
            <a:off x="5970818" y="2218327"/>
            <a:ext cx="1" cy="53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109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84630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Konwersja dat</a:t>
            </a:r>
            <a:endParaRPr lang="en-D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BE38B-0AFA-448B-9381-616F1D232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605" y="1222866"/>
            <a:ext cx="8262790" cy="12906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FB7ACF-9E31-4FA3-B2F7-534697FA2CEE}"/>
              </a:ext>
            </a:extLst>
          </p:cNvPr>
          <p:cNvSpPr txBox="1"/>
          <p:nvPr/>
        </p:nvSpPr>
        <p:spPr>
          <a:xfrm>
            <a:off x="2784516" y="2860765"/>
            <a:ext cx="6622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PS. „arrival_date_month” jest nazwą miesiąca dlatego odrzucamy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75989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84630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Zakodowanie zmiennych kategorycznych</a:t>
            </a:r>
            <a:endParaRPr lang="en-D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E3E4CA-8E85-484D-BBB6-B0167B51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15" y="1288437"/>
            <a:ext cx="3166953" cy="5334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BA3087-58D4-40A5-9BF7-232A385CE3FD}"/>
              </a:ext>
            </a:extLst>
          </p:cNvPr>
          <p:cNvSpPr txBox="1"/>
          <p:nvPr/>
        </p:nvSpPr>
        <p:spPr>
          <a:xfrm>
            <a:off x="255515" y="2065641"/>
            <a:ext cx="5008816" cy="2519038"/>
          </a:xfrm>
          <a:prstGeom prst="rect">
            <a:avLst/>
          </a:prstGeom>
          <a:noFill/>
          <a:ln w="12700">
            <a:solidFill>
              <a:schemeClr val="accent1">
                <a:shade val="90000"/>
              </a:schemeClr>
            </a:solidFill>
          </a:ln>
        </p:spPr>
        <p:txBody>
          <a:bodyPr wrap="square" numCol="2" rtlCol="0">
            <a:noAutofit/>
          </a:bodyPr>
          <a:lstStyle/>
          <a:p>
            <a:r>
              <a:rPr lang="pl-PL" sz="700" dirty="0"/>
              <a:t>hotel: </a:t>
            </a:r>
          </a:p>
          <a:p>
            <a:r>
              <a:rPr lang="pl-PL" sz="700" dirty="0"/>
              <a:t>['Resort Hotel' 'City Hotel']</a:t>
            </a:r>
          </a:p>
          <a:p>
            <a:endParaRPr lang="pl-PL" sz="700" dirty="0"/>
          </a:p>
          <a:p>
            <a:r>
              <a:rPr lang="pl-PL" sz="700" dirty="0"/>
              <a:t>meal:</a:t>
            </a:r>
          </a:p>
          <a:p>
            <a:r>
              <a:rPr lang="pl-PL" sz="700" dirty="0"/>
              <a:t>['BB' 'FB' 'HB' 'SC' 'Undefined']</a:t>
            </a:r>
          </a:p>
          <a:p>
            <a:endParaRPr lang="pl-PL" sz="700" dirty="0"/>
          </a:p>
          <a:p>
            <a:r>
              <a:rPr lang="pl-PL" sz="700" dirty="0"/>
              <a:t>country:</a:t>
            </a:r>
          </a:p>
          <a:p>
            <a:r>
              <a:rPr lang="pl-PL" sz="700" dirty="0"/>
              <a:t>['PRT' 'GBR’ ... ]</a:t>
            </a:r>
          </a:p>
          <a:p>
            <a:endParaRPr lang="pl-PL" sz="700" dirty="0"/>
          </a:p>
          <a:p>
            <a:r>
              <a:rPr lang="pl-PL" sz="700" dirty="0"/>
              <a:t>market_segment:</a:t>
            </a:r>
          </a:p>
          <a:p>
            <a:r>
              <a:rPr lang="pl-PL" sz="700" dirty="0"/>
              <a:t>['Direct' 'Corporate' 'Online TA' 'Offline TA/TO' 'Complementary' 'Groups’ 'Undefined' 'Aviation']</a:t>
            </a:r>
          </a:p>
          <a:p>
            <a:endParaRPr lang="pl-PL" sz="700" dirty="0"/>
          </a:p>
          <a:p>
            <a:r>
              <a:rPr lang="pl-PL" sz="700" dirty="0"/>
              <a:t>distribution_channel:</a:t>
            </a:r>
          </a:p>
          <a:p>
            <a:r>
              <a:rPr lang="pl-PL" sz="700" dirty="0"/>
              <a:t>['Direct' 'Corporate' 'TA/TO' 'Undefined' 'GDS']</a:t>
            </a:r>
          </a:p>
          <a:p>
            <a:endParaRPr lang="pl-PL" sz="700" dirty="0"/>
          </a:p>
          <a:p>
            <a:r>
              <a:rPr lang="pl-PL" sz="700" dirty="0"/>
              <a:t>reserved_room_type:</a:t>
            </a:r>
          </a:p>
          <a:p>
            <a:r>
              <a:rPr lang="pl-PL" sz="700" dirty="0"/>
              <a:t>['C' 'A' 'D' 'E' 'G' 'F' 'H' 'L' 'B']</a:t>
            </a:r>
          </a:p>
          <a:p>
            <a:endParaRPr lang="pl-PL" sz="700" dirty="0"/>
          </a:p>
          <a:p>
            <a:r>
              <a:rPr lang="pl-PL" sz="700" dirty="0"/>
              <a:t>assigned_room_type:</a:t>
            </a:r>
          </a:p>
          <a:p>
            <a:r>
              <a:rPr lang="pl-PL" sz="700" dirty="0"/>
              <a:t>['C' 'A' 'D' 'E' 'G' 'F' 'I' 'B' 'H' 'L' 'K']</a:t>
            </a:r>
          </a:p>
          <a:p>
            <a:endParaRPr lang="pl-PL" sz="700" dirty="0"/>
          </a:p>
          <a:p>
            <a:r>
              <a:rPr lang="pl-PL" sz="700" dirty="0"/>
              <a:t>deposit_type: </a:t>
            </a:r>
          </a:p>
          <a:p>
            <a:r>
              <a:rPr lang="pl-PL" sz="700" dirty="0"/>
              <a:t>['No Deposit' 'Refundable' 'Non Refund']</a:t>
            </a:r>
          </a:p>
          <a:p>
            <a:endParaRPr lang="pl-PL" sz="700" dirty="0"/>
          </a:p>
          <a:p>
            <a:r>
              <a:rPr lang="pl-PL" sz="700" dirty="0"/>
              <a:t>customer_type:</a:t>
            </a:r>
          </a:p>
          <a:p>
            <a:r>
              <a:rPr lang="pl-PL" sz="700" dirty="0"/>
              <a:t>['Transient' 'Contract' 'Transient-Party' 'Group']</a:t>
            </a:r>
          </a:p>
          <a:p>
            <a:endParaRPr lang="pl-PL" sz="700" dirty="0"/>
          </a:p>
          <a:p>
            <a:r>
              <a:rPr lang="pl-PL" sz="700" dirty="0"/>
              <a:t>reservation_status:</a:t>
            </a:r>
          </a:p>
          <a:p>
            <a:r>
              <a:rPr lang="pl-PL" sz="700" dirty="0"/>
              <a:t>['Check-Out' 'Canceled' 'No-Show']</a:t>
            </a:r>
          </a:p>
          <a:p>
            <a:endParaRPr lang="pl-PL" sz="700" dirty="0"/>
          </a:p>
          <a:p>
            <a:r>
              <a:rPr lang="pl-PL" sz="700" dirty="0"/>
              <a:t>year:</a:t>
            </a:r>
          </a:p>
          <a:p>
            <a:r>
              <a:rPr lang="pl-PL" sz="700" dirty="0"/>
              <a:t>[2015 2014 2016 2017]</a:t>
            </a:r>
          </a:p>
          <a:p>
            <a:endParaRPr lang="pl-PL" sz="700" dirty="0"/>
          </a:p>
          <a:p>
            <a:r>
              <a:rPr lang="pl-PL" sz="700" dirty="0"/>
              <a:t>month:</a:t>
            </a:r>
          </a:p>
          <a:p>
            <a:r>
              <a:rPr lang="pl-PL" sz="700" dirty="0"/>
              <a:t>[ 7  5  4  6  3  8  9  1 11 10 12  2]</a:t>
            </a:r>
          </a:p>
          <a:p>
            <a:endParaRPr lang="pl-PL" sz="700" dirty="0"/>
          </a:p>
          <a:p>
            <a:r>
              <a:rPr lang="pl-PL" sz="700" dirty="0"/>
              <a:t>day:</a:t>
            </a:r>
          </a:p>
          <a:p>
            <a:r>
              <a:rPr lang="pl-PL" sz="700" dirty="0"/>
              <a:t>[ 1  2  3  6 22 23  5  7  8 11 15 16 29 19 18  9 13  4 12 26 17 10 20 14 30 28 25 21 27 24 31]</a:t>
            </a:r>
            <a:endParaRPr lang="en-DE" sz="7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0CFCC4-6824-4BF7-B791-492C220CD4BB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838992" y="1821921"/>
            <a:ext cx="0" cy="2227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86442C6-2ACA-4182-95F2-DCBDF2FA4EC0}"/>
              </a:ext>
            </a:extLst>
          </p:cNvPr>
          <p:cNvSpPr txBox="1"/>
          <p:nvPr/>
        </p:nvSpPr>
        <p:spPr>
          <a:xfrm>
            <a:off x="684669" y="1024026"/>
            <a:ext cx="23086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050" dirty="0"/>
              <a:t>Unikatowe wartości każdej z kolumn</a:t>
            </a:r>
            <a:endParaRPr lang="en-DE" sz="10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CC2330-1F4B-48EF-87E1-E7277E09C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565" y="2065641"/>
            <a:ext cx="6743454" cy="193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73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84630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Normalizacja zmiennych numerycznych</a:t>
            </a:r>
            <a:endParaRPr lang="en-DE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BA3087-58D4-40A5-9BF7-232A385CE3FD}"/>
              </a:ext>
            </a:extLst>
          </p:cNvPr>
          <p:cNvSpPr txBox="1"/>
          <p:nvPr/>
        </p:nvSpPr>
        <p:spPr>
          <a:xfrm>
            <a:off x="1400938" y="2055146"/>
            <a:ext cx="3486994" cy="2294786"/>
          </a:xfrm>
          <a:prstGeom prst="rect">
            <a:avLst/>
          </a:prstGeom>
          <a:noFill/>
          <a:ln w="12700">
            <a:solidFill>
              <a:schemeClr val="accent1">
                <a:shade val="90000"/>
              </a:schemeClr>
            </a:solidFill>
          </a:ln>
        </p:spPr>
        <p:txBody>
          <a:bodyPr wrap="square" numCol="1" rtlCol="0">
            <a:noAutofit/>
          </a:bodyPr>
          <a:lstStyle/>
          <a:p>
            <a:r>
              <a:rPr lang="en-US" sz="900" dirty="0" err="1"/>
              <a:t>lead_time</a:t>
            </a:r>
            <a:r>
              <a:rPr lang="en-US" sz="900" dirty="0"/>
              <a:t>                         </a:t>
            </a:r>
            <a:r>
              <a:rPr lang="pl-PL" sz="900" dirty="0"/>
              <a:t>		</a:t>
            </a:r>
            <a:r>
              <a:rPr lang="en-US" sz="900" dirty="0"/>
              <a:t>11422.361808</a:t>
            </a:r>
          </a:p>
          <a:p>
            <a:r>
              <a:rPr lang="en-US" sz="900" dirty="0" err="1"/>
              <a:t>arrival_date_week_number</a:t>
            </a:r>
            <a:r>
              <a:rPr lang="en-US" sz="900" dirty="0"/>
              <a:t>            </a:t>
            </a:r>
            <a:r>
              <a:rPr lang="pl-PL" sz="900" dirty="0"/>
              <a:t>	</a:t>
            </a:r>
            <a:r>
              <a:rPr lang="en-US" sz="900" dirty="0"/>
              <a:t>184.990111</a:t>
            </a:r>
          </a:p>
          <a:p>
            <a:r>
              <a:rPr lang="en-US" sz="900" dirty="0" err="1"/>
              <a:t>arrival_date_day_of_month</a:t>
            </a:r>
            <a:r>
              <a:rPr lang="en-US" sz="900" dirty="0"/>
              <a:t>            </a:t>
            </a:r>
            <a:r>
              <a:rPr lang="pl-PL" sz="900" dirty="0"/>
              <a:t>	</a:t>
            </a:r>
            <a:r>
              <a:rPr lang="en-US" sz="900" dirty="0"/>
              <a:t>77.107192</a:t>
            </a:r>
          </a:p>
          <a:p>
            <a:r>
              <a:rPr lang="en-US" sz="900" dirty="0" err="1"/>
              <a:t>stays_in_weekend_nights</a:t>
            </a:r>
            <a:r>
              <a:rPr lang="en-US" sz="900" dirty="0"/>
              <a:t>               </a:t>
            </a:r>
            <a:r>
              <a:rPr lang="pl-PL" sz="900" dirty="0"/>
              <a:t>	</a:t>
            </a:r>
            <a:r>
              <a:rPr lang="en-US" sz="900" dirty="0"/>
              <a:t>0.990258</a:t>
            </a:r>
          </a:p>
          <a:p>
            <a:r>
              <a:rPr lang="en-US" sz="900" dirty="0" err="1"/>
              <a:t>stays_in_week_nights</a:t>
            </a:r>
            <a:r>
              <a:rPr lang="en-US" sz="900" dirty="0"/>
              <a:t>                  </a:t>
            </a:r>
            <a:r>
              <a:rPr lang="pl-PL" sz="900" dirty="0"/>
              <a:t>	</a:t>
            </a:r>
            <a:r>
              <a:rPr lang="en-US" sz="900" dirty="0"/>
              <a:t>3.599010</a:t>
            </a:r>
          </a:p>
          <a:p>
            <a:r>
              <a:rPr lang="en-US" sz="900" dirty="0"/>
              <a:t>adults                                </a:t>
            </a:r>
            <a:r>
              <a:rPr lang="pl-PL" sz="900" dirty="0"/>
              <a:t>		</a:t>
            </a:r>
            <a:r>
              <a:rPr lang="en-US" sz="900" dirty="0"/>
              <a:t>0.330838</a:t>
            </a:r>
          </a:p>
          <a:p>
            <a:r>
              <a:rPr lang="en-US" sz="900" dirty="0"/>
              <a:t>children                              </a:t>
            </a:r>
            <a:r>
              <a:rPr lang="pl-PL" sz="900" dirty="0"/>
              <a:t>		</a:t>
            </a:r>
            <a:r>
              <a:rPr lang="en-US" sz="900" dirty="0"/>
              <a:t>0.159070</a:t>
            </a:r>
          </a:p>
          <a:p>
            <a:r>
              <a:rPr lang="en-US" sz="900" dirty="0"/>
              <a:t>babies                                </a:t>
            </a:r>
            <a:r>
              <a:rPr lang="pl-PL" sz="900" dirty="0"/>
              <a:t>		</a:t>
            </a:r>
            <a:r>
              <a:rPr lang="en-US" sz="900" dirty="0"/>
              <a:t>0.009508</a:t>
            </a:r>
          </a:p>
          <a:p>
            <a:r>
              <a:rPr lang="en-US" sz="900" dirty="0" err="1"/>
              <a:t>is_repeated_guest</a:t>
            </a:r>
            <a:r>
              <a:rPr lang="en-US" sz="900" dirty="0"/>
              <a:t>                     </a:t>
            </a:r>
            <a:r>
              <a:rPr lang="pl-PL" sz="900" dirty="0"/>
              <a:t>	</a:t>
            </a:r>
            <a:r>
              <a:rPr lang="en-US" sz="900" dirty="0"/>
              <a:t>0.030507</a:t>
            </a:r>
          </a:p>
          <a:p>
            <a:r>
              <a:rPr lang="en-US" sz="900" dirty="0" err="1"/>
              <a:t>previous_cancellations</a:t>
            </a:r>
            <a:r>
              <a:rPr lang="en-US" sz="900" dirty="0"/>
              <a:t>                </a:t>
            </a:r>
            <a:r>
              <a:rPr lang="pl-PL" sz="900" dirty="0"/>
              <a:t>	</a:t>
            </a:r>
            <a:r>
              <a:rPr lang="en-US" sz="900" dirty="0"/>
              <a:t>0.713887</a:t>
            </a:r>
          </a:p>
          <a:p>
            <a:r>
              <a:rPr lang="en-US" sz="900" dirty="0" err="1"/>
              <a:t>previous_bookings_not_canceled</a:t>
            </a:r>
            <a:r>
              <a:rPr lang="en-US" sz="900" dirty="0"/>
              <a:t>        2.244415</a:t>
            </a:r>
          </a:p>
          <a:p>
            <a:r>
              <a:rPr lang="en-US" sz="900" dirty="0"/>
              <a:t>agent                             </a:t>
            </a:r>
            <a:r>
              <a:rPr lang="pl-PL" sz="900" dirty="0"/>
              <a:t>		</a:t>
            </a:r>
            <a:r>
              <a:rPr lang="en-US" sz="900" dirty="0"/>
              <a:t>11485.169679</a:t>
            </a:r>
          </a:p>
          <a:p>
            <a:r>
              <a:rPr lang="en-US" sz="900" dirty="0"/>
              <a:t>company                            </a:t>
            </a:r>
            <a:r>
              <a:rPr lang="pl-PL" sz="900" dirty="0"/>
              <a:t>		</a:t>
            </a:r>
            <a:r>
              <a:rPr lang="en-US" sz="900" dirty="0"/>
              <a:t>2897.684308</a:t>
            </a:r>
          </a:p>
          <a:p>
            <a:r>
              <a:rPr lang="en-US" sz="900" dirty="0" err="1"/>
              <a:t>adr</a:t>
            </a:r>
            <a:r>
              <a:rPr lang="en-US" sz="900" dirty="0"/>
              <a:t>                                </a:t>
            </a:r>
            <a:r>
              <a:rPr lang="pl-PL" sz="900" dirty="0"/>
              <a:t>		</a:t>
            </a:r>
            <a:r>
              <a:rPr lang="en-US" sz="900" dirty="0"/>
              <a:t>2543.589039</a:t>
            </a:r>
          </a:p>
          <a:p>
            <a:r>
              <a:rPr lang="en-US" sz="900" dirty="0" err="1"/>
              <a:t>required_car_parking_spaces</a:t>
            </a:r>
            <a:r>
              <a:rPr lang="en-US" sz="900" dirty="0"/>
              <a:t>           </a:t>
            </a:r>
            <a:r>
              <a:rPr lang="pl-PL" sz="900" dirty="0"/>
              <a:t>	</a:t>
            </a:r>
            <a:r>
              <a:rPr lang="en-US" sz="900" dirty="0"/>
              <a:t>0.060201</a:t>
            </a:r>
          </a:p>
          <a:p>
            <a:r>
              <a:rPr lang="en-US" sz="900" dirty="0" err="1"/>
              <a:t>total_of_special_requests</a:t>
            </a:r>
            <a:r>
              <a:rPr lang="en-US" sz="900" dirty="0"/>
              <a:t>             </a:t>
            </a:r>
            <a:r>
              <a:rPr lang="pl-PL" sz="900" dirty="0"/>
              <a:t>	</a:t>
            </a:r>
            <a:r>
              <a:rPr lang="en-US" sz="900" dirty="0"/>
              <a:t>0.628652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0CFCC4-6824-4BF7-B791-492C220CD4BB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144040" y="1831367"/>
            <a:ext cx="395" cy="223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86442C6-2ACA-4182-95F2-DCBDF2FA4EC0}"/>
              </a:ext>
            </a:extLst>
          </p:cNvPr>
          <p:cNvSpPr txBox="1"/>
          <p:nvPr/>
        </p:nvSpPr>
        <p:spPr>
          <a:xfrm>
            <a:off x="1269769" y="917759"/>
            <a:ext cx="36969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050" dirty="0"/>
              <a:t>Wybranie kolumn numerycznych i wariancja dla wizualizacji</a:t>
            </a:r>
            <a:endParaRPr lang="en-DE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406FB2-340B-41A5-924E-6600053A0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938" y="1257868"/>
            <a:ext cx="3434662" cy="5631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46E05F-1D7B-4DDC-B347-B35A82FC2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721" y="955409"/>
            <a:ext cx="4421341" cy="8835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C5E0686-01D9-4A95-8922-326E95C3FCF6}"/>
              </a:ext>
            </a:extLst>
          </p:cNvPr>
          <p:cNvSpPr txBox="1"/>
          <p:nvPr/>
        </p:nvSpPr>
        <p:spPr>
          <a:xfrm>
            <a:off x="8097665" y="671395"/>
            <a:ext cx="9654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050" dirty="0"/>
              <a:t>Normalizacja</a:t>
            </a:r>
            <a:endParaRPr lang="en-DE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3555BE-D4DD-48B6-BD1A-2EC060625D60}"/>
              </a:ext>
            </a:extLst>
          </p:cNvPr>
          <p:cNvSpPr txBox="1"/>
          <p:nvPr/>
        </p:nvSpPr>
        <p:spPr>
          <a:xfrm>
            <a:off x="6836893" y="2055146"/>
            <a:ext cx="3486994" cy="2294786"/>
          </a:xfrm>
          <a:prstGeom prst="rect">
            <a:avLst/>
          </a:prstGeom>
          <a:noFill/>
          <a:ln w="12700">
            <a:solidFill>
              <a:schemeClr val="accent1">
                <a:shade val="90000"/>
              </a:schemeClr>
            </a:solidFill>
          </a:ln>
        </p:spPr>
        <p:txBody>
          <a:bodyPr wrap="square" numCol="1" rtlCol="0">
            <a:noAutofit/>
          </a:bodyPr>
          <a:lstStyle/>
          <a:p>
            <a:r>
              <a:rPr lang="en-US" sz="900" dirty="0" err="1"/>
              <a:t>lead_time</a:t>
            </a:r>
            <a:r>
              <a:rPr lang="en-US" sz="900" dirty="0"/>
              <a:t>                         </a:t>
            </a:r>
            <a:r>
              <a:rPr lang="pl-PL" sz="900" dirty="0"/>
              <a:t>		</a:t>
            </a:r>
            <a:r>
              <a:rPr lang="en-US" sz="900" dirty="0"/>
              <a:t>2.582757</a:t>
            </a:r>
          </a:p>
          <a:p>
            <a:r>
              <a:rPr lang="en-US" sz="900" dirty="0" err="1"/>
              <a:t>arrival_date_week_number</a:t>
            </a:r>
            <a:r>
              <a:rPr lang="en-US" sz="900" dirty="0"/>
              <a:t>          </a:t>
            </a:r>
            <a:r>
              <a:rPr lang="pl-PL" sz="900" dirty="0"/>
              <a:t>	</a:t>
            </a:r>
            <a:r>
              <a:rPr lang="en-US" sz="900" dirty="0"/>
              <a:t>0.440884</a:t>
            </a:r>
          </a:p>
          <a:p>
            <a:r>
              <a:rPr lang="en-US" sz="900" dirty="0" err="1"/>
              <a:t>arrival_date_day_of_month</a:t>
            </a:r>
            <a:r>
              <a:rPr lang="en-US" sz="900" dirty="0"/>
              <a:t>         </a:t>
            </a:r>
            <a:r>
              <a:rPr lang="pl-PL" sz="900" dirty="0"/>
              <a:t>	</a:t>
            </a:r>
            <a:r>
              <a:rPr lang="en-US" sz="900" dirty="0"/>
              <a:t>0.506325</a:t>
            </a:r>
          </a:p>
          <a:p>
            <a:r>
              <a:rPr lang="en-US" sz="900" dirty="0" err="1"/>
              <a:t>stays_in_weekend_nights</a:t>
            </a:r>
            <a:r>
              <a:rPr lang="en-US" sz="900" dirty="0"/>
              <a:t>           </a:t>
            </a:r>
            <a:r>
              <a:rPr lang="pl-PL" sz="900" dirty="0"/>
              <a:t>	</a:t>
            </a:r>
            <a:r>
              <a:rPr lang="en-US" sz="900" dirty="0"/>
              <a:t>0.990258</a:t>
            </a:r>
          </a:p>
          <a:p>
            <a:r>
              <a:rPr lang="en-US" sz="900" dirty="0" err="1"/>
              <a:t>stays_in_week_nights</a:t>
            </a:r>
            <a:r>
              <a:rPr lang="en-US" sz="900" dirty="0"/>
              <a:t>              </a:t>
            </a:r>
            <a:r>
              <a:rPr lang="pl-PL" sz="900" dirty="0"/>
              <a:t>	</a:t>
            </a:r>
            <a:r>
              <a:rPr lang="en-US" sz="900" dirty="0"/>
              <a:t>3.599010</a:t>
            </a:r>
          </a:p>
          <a:p>
            <a:r>
              <a:rPr lang="en-US" sz="900" dirty="0"/>
              <a:t>adults                            </a:t>
            </a:r>
            <a:r>
              <a:rPr lang="pl-PL" sz="900" dirty="0"/>
              <a:t>		</a:t>
            </a:r>
            <a:r>
              <a:rPr lang="en-US" sz="900" dirty="0"/>
              <a:t>0.330838</a:t>
            </a:r>
          </a:p>
          <a:p>
            <a:r>
              <a:rPr lang="en-US" sz="900" dirty="0"/>
              <a:t>children                          </a:t>
            </a:r>
            <a:r>
              <a:rPr lang="pl-PL" sz="900" dirty="0"/>
              <a:t>		</a:t>
            </a:r>
            <a:r>
              <a:rPr lang="en-US" sz="900" dirty="0"/>
              <a:t>0.159070</a:t>
            </a:r>
          </a:p>
          <a:p>
            <a:r>
              <a:rPr lang="en-US" sz="900" dirty="0"/>
              <a:t>babies                            </a:t>
            </a:r>
            <a:r>
              <a:rPr lang="pl-PL" sz="900" dirty="0"/>
              <a:t>		</a:t>
            </a:r>
            <a:r>
              <a:rPr lang="en-US" sz="900" dirty="0"/>
              <a:t>0.009508</a:t>
            </a:r>
          </a:p>
          <a:p>
            <a:r>
              <a:rPr lang="en-US" sz="900" dirty="0" err="1"/>
              <a:t>is_repeated_guest</a:t>
            </a:r>
            <a:r>
              <a:rPr lang="en-US" sz="900" dirty="0"/>
              <a:t>                 </a:t>
            </a:r>
            <a:r>
              <a:rPr lang="pl-PL" sz="900" dirty="0"/>
              <a:t>		</a:t>
            </a:r>
            <a:r>
              <a:rPr lang="en-US" sz="900" dirty="0"/>
              <a:t>0.030507</a:t>
            </a:r>
          </a:p>
          <a:p>
            <a:r>
              <a:rPr lang="en-US" sz="900" dirty="0" err="1"/>
              <a:t>previous_cancellations</a:t>
            </a:r>
            <a:r>
              <a:rPr lang="en-US" sz="900" dirty="0"/>
              <a:t>            </a:t>
            </a:r>
            <a:r>
              <a:rPr lang="pl-PL" sz="900" dirty="0"/>
              <a:t>	</a:t>
            </a:r>
            <a:r>
              <a:rPr lang="en-US" sz="900" dirty="0"/>
              <a:t>0.713887</a:t>
            </a:r>
          </a:p>
          <a:p>
            <a:r>
              <a:rPr lang="en-US" sz="900" dirty="0" err="1"/>
              <a:t>previous_bookings_not_canceled</a:t>
            </a:r>
            <a:r>
              <a:rPr lang="en-US" sz="900" dirty="0"/>
              <a:t>    </a:t>
            </a:r>
            <a:r>
              <a:rPr lang="pl-PL" sz="900" dirty="0"/>
              <a:t>	</a:t>
            </a:r>
            <a:r>
              <a:rPr lang="en-US" sz="900" dirty="0"/>
              <a:t>2.244415</a:t>
            </a:r>
          </a:p>
          <a:p>
            <a:r>
              <a:rPr lang="en-US" sz="900" dirty="0"/>
              <a:t>agent                             </a:t>
            </a:r>
            <a:r>
              <a:rPr lang="pl-PL" sz="900" dirty="0"/>
              <a:t>		</a:t>
            </a:r>
            <a:r>
              <a:rPr lang="en-US" sz="900" dirty="0"/>
              <a:t>3.535793</a:t>
            </a:r>
          </a:p>
          <a:p>
            <a:r>
              <a:rPr lang="en-US" sz="900" dirty="0"/>
              <a:t>company                           </a:t>
            </a:r>
            <a:r>
              <a:rPr lang="pl-PL" sz="900" dirty="0"/>
              <a:t>		</a:t>
            </a:r>
            <a:r>
              <a:rPr lang="en-US" sz="900" dirty="0"/>
              <a:t>1.346883</a:t>
            </a:r>
          </a:p>
          <a:p>
            <a:r>
              <a:rPr lang="en-US" sz="900" dirty="0" err="1"/>
              <a:t>adr</a:t>
            </a:r>
            <a:r>
              <a:rPr lang="en-US" sz="900" dirty="0"/>
              <a:t>                               </a:t>
            </a:r>
            <a:r>
              <a:rPr lang="pl-PL" sz="900" dirty="0"/>
              <a:t>		</a:t>
            </a:r>
            <a:r>
              <a:rPr lang="en-US" sz="900" dirty="0"/>
              <a:t>0.515480</a:t>
            </a:r>
          </a:p>
          <a:p>
            <a:r>
              <a:rPr lang="en-US" sz="900" dirty="0" err="1"/>
              <a:t>required_car_parking_spaces</a:t>
            </a:r>
            <a:r>
              <a:rPr lang="en-US" sz="900" dirty="0"/>
              <a:t>       </a:t>
            </a:r>
            <a:r>
              <a:rPr lang="pl-PL" sz="900" dirty="0"/>
              <a:t>	</a:t>
            </a:r>
            <a:r>
              <a:rPr lang="en-US" sz="900" dirty="0"/>
              <a:t>0.060201</a:t>
            </a:r>
          </a:p>
          <a:p>
            <a:r>
              <a:rPr lang="en-US" sz="900" dirty="0" err="1"/>
              <a:t>total_of_special_requests</a:t>
            </a:r>
            <a:r>
              <a:rPr lang="en-US" sz="900" dirty="0"/>
              <a:t>         </a:t>
            </a:r>
            <a:r>
              <a:rPr lang="pl-PL" sz="900" dirty="0"/>
              <a:t>	</a:t>
            </a:r>
            <a:r>
              <a:rPr lang="en-US" sz="900" dirty="0"/>
              <a:t>0.628652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DE3A9F-6D8C-4108-ABBE-EB111867AB94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 flipH="1">
            <a:off x="8580390" y="1838919"/>
            <a:ext cx="2" cy="216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C0B6B3F-76D7-4352-8360-25BF04FB7BDE}"/>
              </a:ext>
            </a:extLst>
          </p:cNvPr>
          <p:cNvSpPr txBox="1"/>
          <p:nvPr/>
        </p:nvSpPr>
        <p:spPr>
          <a:xfrm>
            <a:off x="2831294" y="4412269"/>
            <a:ext cx="625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dirty="0"/>
              <a:t>Przed</a:t>
            </a:r>
            <a:endParaRPr lang="en-DE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F077F5-9F29-4FD2-B683-7590F2897C12}"/>
              </a:ext>
            </a:extLst>
          </p:cNvPr>
          <p:cNvSpPr txBox="1"/>
          <p:nvPr/>
        </p:nvSpPr>
        <p:spPr>
          <a:xfrm>
            <a:off x="8387099" y="4412270"/>
            <a:ext cx="386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dirty="0"/>
              <a:t>Po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1671440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189133"/>
            <a:ext cx="9151136" cy="657497"/>
          </a:xfrm>
        </p:spPr>
        <p:txBody>
          <a:bodyPr>
            <a:normAutofit fontScale="90000"/>
          </a:bodyPr>
          <a:lstStyle/>
          <a:p>
            <a:r>
              <a:rPr lang="pl-PL" sz="2800" dirty="0"/>
              <a:t>Zastąpienie brakujących wartości „adr” średnią ze wszystkich danych</a:t>
            </a:r>
            <a:endParaRPr lang="en-D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628618-D6AA-439F-B78B-225D8EDD8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52" y="1197928"/>
            <a:ext cx="8573696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35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189133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Podział danych na testowe i szkoleniowe</a:t>
            </a:r>
            <a:endParaRPr lang="en-D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A49E3-FD93-4F16-8D0B-7031F14E8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24" y="1174478"/>
            <a:ext cx="9859751" cy="1295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F9109D-7D0E-4AE9-84CE-4A9D35399A73}"/>
              </a:ext>
            </a:extLst>
          </p:cNvPr>
          <p:cNvSpPr txBox="1"/>
          <p:nvPr/>
        </p:nvSpPr>
        <p:spPr>
          <a:xfrm>
            <a:off x="4166784" y="2718352"/>
            <a:ext cx="3858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30% danych trafi do zbioru testowego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11763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DAED9-241A-4A35-8D29-F50BE0AB1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332" y="595834"/>
            <a:ext cx="8867335" cy="706945"/>
          </a:xfrm>
        </p:spPr>
        <p:txBody>
          <a:bodyPr/>
          <a:lstStyle/>
          <a:p>
            <a:r>
              <a:rPr lang="pl-PL" dirty="0"/>
              <a:t>Budowanie modeli</a:t>
            </a:r>
            <a:endParaRPr lang="en-D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264341-C136-4F3F-8375-CB58847B3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960" y="1510381"/>
            <a:ext cx="9080078" cy="4058751"/>
          </a:xfrm>
        </p:spPr>
        <p:txBody>
          <a:bodyPr/>
          <a:lstStyle/>
          <a:p>
            <a:pPr marL="36900" indent="0">
              <a:buNone/>
            </a:pPr>
            <a:r>
              <a:rPr lang="pl-PL" dirty="0"/>
              <a:t>Na kolejnych slajdach zaprezentowano użycie modeli uczenia maszynowego do rozwiązania problemu – przewidzenia czy dana rezerwacja w momencie jej złożenia zostanie anulowana.</a:t>
            </a:r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13331908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189133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Logistic Regression</a:t>
            </a:r>
            <a:endParaRPr lang="en-D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6D674D-3DC3-47CB-A92E-8C836C57F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02" y="1027462"/>
            <a:ext cx="4803076" cy="24015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923A5B-F290-42C1-AB7D-97064C219E6F}"/>
              </a:ext>
            </a:extLst>
          </p:cNvPr>
          <p:cNvSpPr txBox="1"/>
          <p:nvPr/>
        </p:nvSpPr>
        <p:spPr>
          <a:xfrm>
            <a:off x="5785213" y="1027462"/>
            <a:ext cx="6097088" cy="4524315"/>
          </a:xfrm>
          <a:prstGeom prst="rect">
            <a:avLst/>
          </a:prstGeom>
          <a:noFill/>
          <a:ln w="12700">
            <a:solidFill>
              <a:schemeClr val="accent1">
                <a:shade val="9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DE" dirty="0"/>
              <a:t>Accuracy Score of Logistic Regression is : 0.8087408774431675</a:t>
            </a:r>
            <a:endParaRPr lang="pl-PL" dirty="0"/>
          </a:p>
          <a:p>
            <a:endParaRPr lang="en-DE" dirty="0"/>
          </a:p>
          <a:p>
            <a:r>
              <a:rPr lang="en-DE" dirty="0"/>
              <a:t>Confusion Matrix : </a:t>
            </a:r>
          </a:p>
          <a:p>
            <a:r>
              <a:rPr lang="en-DE" dirty="0"/>
              <a:t>[[21162  1177]</a:t>
            </a:r>
          </a:p>
          <a:p>
            <a:r>
              <a:rPr lang="en-DE" dirty="0"/>
              <a:t> [ 5663  7761]]</a:t>
            </a:r>
            <a:endParaRPr lang="pl-PL" dirty="0"/>
          </a:p>
          <a:p>
            <a:endParaRPr lang="en-DE" dirty="0"/>
          </a:p>
          <a:p>
            <a:r>
              <a:rPr lang="en-DE" dirty="0"/>
              <a:t>Classification Report :</a:t>
            </a:r>
          </a:p>
          <a:p>
            <a:r>
              <a:rPr lang="en-DE" dirty="0"/>
              <a:t>              precision    recall  f1-score   support</a:t>
            </a:r>
          </a:p>
          <a:p>
            <a:endParaRPr lang="en-DE" dirty="0"/>
          </a:p>
          <a:p>
            <a:r>
              <a:rPr lang="en-DE" dirty="0"/>
              <a:t>           0       0.79      0.95      0.86     22339</a:t>
            </a:r>
          </a:p>
          <a:p>
            <a:r>
              <a:rPr lang="en-DE" dirty="0"/>
              <a:t>           1       0.87      0.58      0.69     13424</a:t>
            </a:r>
          </a:p>
          <a:p>
            <a:endParaRPr lang="en-DE" dirty="0"/>
          </a:p>
          <a:p>
            <a:r>
              <a:rPr lang="en-DE" dirty="0"/>
              <a:t>    accuracy                           0.81     35763</a:t>
            </a:r>
          </a:p>
          <a:p>
            <a:r>
              <a:rPr lang="en-DE" dirty="0"/>
              <a:t>   macro avg       0.83      0.76      0.78     35763</a:t>
            </a:r>
          </a:p>
          <a:p>
            <a:r>
              <a:rPr lang="en-DE" dirty="0"/>
              <a:t>weighted avg       0.82      0.81      0.80     35763</a:t>
            </a:r>
          </a:p>
        </p:txBody>
      </p:sp>
    </p:spTree>
    <p:extLst>
      <p:ext uri="{BB962C8B-B14F-4D97-AF65-F5344CB8AC3E}">
        <p14:creationId xmlns:p14="http://schemas.microsoft.com/office/powerpoint/2010/main" val="2984785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189133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Decision Tree Classifier</a:t>
            </a:r>
            <a:endParaRPr lang="en-DE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923A5B-F290-42C1-AB7D-97064C219E6F}"/>
              </a:ext>
            </a:extLst>
          </p:cNvPr>
          <p:cNvSpPr txBox="1"/>
          <p:nvPr/>
        </p:nvSpPr>
        <p:spPr>
          <a:xfrm>
            <a:off x="5785213" y="1027462"/>
            <a:ext cx="6097088" cy="4247317"/>
          </a:xfrm>
          <a:prstGeom prst="rect">
            <a:avLst/>
          </a:prstGeom>
          <a:noFill/>
          <a:ln w="12700">
            <a:solidFill>
              <a:schemeClr val="accent1">
                <a:shade val="9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Accuracy Score of Decision Tree is : 0.9455582585353578</a:t>
            </a:r>
            <a:endParaRPr lang="pl-PL" dirty="0"/>
          </a:p>
          <a:p>
            <a:endParaRPr lang="en-US" dirty="0"/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[[21480   993]</a:t>
            </a:r>
          </a:p>
          <a:p>
            <a:r>
              <a:rPr lang="en-US" dirty="0"/>
              <a:t> [  954 12336]]</a:t>
            </a:r>
            <a:endParaRPr lang="pl-PL" dirty="0"/>
          </a:p>
          <a:p>
            <a:endParaRPr lang="en-US" dirty="0"/>
          </a:p>
          <a:p>
            <a:r>
              <a:rPr lang="en-US" dirty="0"/>
              <a:t>Classification Report :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0       0.96      0.96      0.96     22473</a:t>
            </a:r>
          </a:p>
          <a:p>
            <a:r>
              <a:rPr lang="en-US" dirty="0"/>
              <a:t>           1       0.93      0.93      0.93     13290</a:t>
            </a:r>
          </a:p>
          <a:p>
            <a:endParaRPr lang="en-US" dirty="0"/>
          </a:p>
          <a:p>
            <a:r>
              <a:rPr lang="en-US" dirty="0"/>
              <a:t>    accuracy                           0.95     35763</a:t>
            </a:r>
          </a:p>
          <a:p>
            <a:r>
              <a:rPr lang="en-US" dirty="0"/>
              <a:t>   macro avg       0.94      0.94      0.94     35763</a:t>
            </a:r>
          </a:p>
          <a:p>
            <a:r>
              <a:rPr lang="en-US" dirty="0"/>
              <a:t>weighted avg       0.95      0.95      0.95     35763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67E676-E3D7-4615-844B-2442B4271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99" y="1027463"/>
            <a:ext cx="5166357" cy="270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26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189133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Random Forest Classifier</a:t>
            </a:r>
            <a:endParaRPr lang="en-DE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923A5B-F290-42C1-AB7D-97064C219E6F}"/>
              </a:ext>
            </a:extLst>
          </p:cNvPr>
          <p:cNvSpPr txBox="1"/>
          <p:nvPr/>
        </p:nvSpPr>
        <p:spPr>
          <a:xfrm>
            <a:off x="5785213" y="1027462"/>
            <a:ext cx="6097088" cy="4247317"/>
          </a:xfrm>
          <a:prstGeom prst="rect">
            <a:avLst/>
          </a:prstGeom>
          <a:noFill/>
          <a:ln w="12700">
            <a:solidFill>
              <a:schemeClr val="accent1">
                <a:shade val="9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Accuracy Score of Random Forest is : 0.9555126807035204</a:t>
            </a:r>
            <a:endParaRPr lang="pl-PL" dirty="0"/>
          </a:p>
          <a:p>
            <a:endParaRPr lang="en-US" dirty="0"/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[[22282   174]</a:t>
            </a:r>
          </a:p>
          <a:p>
            <a:r>
              <a:rPr lang="en-US" dirty="0"/>
              <a:t> [ 1417 11890]]</a:t>
            </a:r>
            <a:endParaRPr lang="pl-PL" dirty="0"/>
          </a:p>
          <a:p>
            <a:endParaRPr lang="en-US" dirty="0"/>
          </a:p>
          <a:p>
            <a:r>
              <a:rPr lang="en-US" dirty="0"/>
              <a:t>Classification Report :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0       0.94      0.99      0.97     22456</a:t>
            </a:r>
          </a:p>
          <a:p>
            <a:r>
              <a:rPr lang="en-US" dirty="0"/>
              <a:t>           1       0.99      0.89      0.94     13307</a:t>
            </a:r>
          </a:p>
          <a:p>
            <a:endParaRPr lang="en-US" dirty="0"/>
          </a:p>
          <a:p>
            <a:r>
              <a:rPr lang="en-US" dirty="0"/>
              <a:t>    accuracy                           0.96     35763</a:t>
            </a:r>
          </a:p>
          <a:p>
            <a:r>
              <a:rPr lang="en-US" dirty="0"/>
              <a:t>   macro avg       0.96      0.94      0.95     35763</a:t>
            </a:r>
          </a:p>
          <a:p>
            <a:r>
              <a:rPr lang="en-US" dirty="0"/>
              <a:t>weighted avg       0.96      0.96      0.96     35763</a:t>
            </a:r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777D2-62AB-4114-B50F-9388B3C59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00" y="1027462"/>
            <a:ext cx="5135534" cy="249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489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189133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XgBoost Classifier</a:t>
            </a:r>
            <a:endParaRPr lang="en-DE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923A5B-F290-42C1-AB7D-97064C219E6F}"/>
              </a:ext>
            </a:extLst>
          </p:cNvPr>
          <p:cNvSpPr txBox="1"/>
          <p:nvPr/>
        </p:nvSpPr>
        <p:spPr>
          <a:xfrm>
            <a:off x="5590903" y="1027462"/>
            <a:ext cx="6453052" cy="4247317"/>
          </a:xfrm>
          <a:prstGeom prst="rect">
            <a:avLst/>
          </a:prstGeom>
          <a:noFill/>
          <a:ln w="12700">
            <a:solidFill>
              <a:schemeClr val="accent1">
                <a:shade val="9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Accuracy Score of </a:t>
            </a:r>
            <a:r>
              <a:rPr lang="en-US" dirty="0" err="1"/>
              <a:t>XgBoost</a:t>
            </a:r>
            <a:r>
              <a:rPr lang="en-US" dirty="0"/>
              <a:t> Classifier is : 0.9825517993456925</a:t>
            </a:r>
            <a:endParaRPr lang="pl-PL" dirty="0"/>
          </a:p>
          <a:p>
            <a:endParaRPr lang="en-US" dirty="0"/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[[22455    13]</a:t>
            </a:r>
          </a:p>
          <a:p>
            <a:r>
              <a:rPr lang="en-US" dirty="0"/>
              <a:t> [  611 12684]]</a:t>
            </a:r>
            <a:endParaRPr lang="pl-PL" dirty="0"/>
          </a:p>
          <a:p>
            <a:endParaRPr lang="en-US" dirty="0"/>
          </a:p>
          <a:p>
            <a:r>
              <a:rPr lang="en-US" dirty="0"/>
              <a:t>Classification Report :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0       0.97      1.00      0.99     22468</a:t>
            </a:r>
          </a:p>
          <a:p>
            <a:r>
              <a:rPr lang="en-US" dirty="0"/>
              <a:t>           1       1.00      0.95      0.98     13295</a:t>
            </a:r>
          </a:p>
          <a:p>
            <a:endParaRPr lang="en-US" dirty="0"/>
          </a:p>
          <a:p>
            <a:r>
              <a:rPr lang="en-US" dirty="0"/>
              <a:t>    accuracy                           0.98     35763</a:t>
            </a:r>
          </a:p>
          <a:p>
            <a:r>
              <a:rPr lang="en-US" dirty="0"/>
              <a:t>   macro avg       0.99      0.98      0.98     35763</a:t>
            </a:r>
          </a:p>
          <a:p>
            <a:r>
              <a:rPr lang="en-US" dirty="0"/>
              <a:t>weighted avg       0.98      0.98      0.98     35763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775C6-4402-4C24-A8B4-C55ED13C3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5" y="1027462"/>
            <a:ext cx="5370062" cy="166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4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189133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Cat Boost Classifier</a:t>
            </a:r>
            <a:endParaRPr lang="en-DE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923A5B-F290-42C1-AB7D-97064C219E6F}"/>
              </a:ext>
            </a:extLst>
          </p:cNvPr>
          <p:cNvSpPr txBox="1"/>
          <p:nvPr/>
        </p:nvSpPr>
        <p:spPr>
          <a:xfrm>
            <a:off x="5590903" y="1027462"/>
            <a:ext cx="6453052" cy="4247317"/>
          </a:xfrm>
          <a:prstGeom prst="rect">
            <a:avLst/>
          </a:prstGeom>
          <a:noFill/>
          <a:ln w="12700">
            <a:solidFill>
              <a:schemeClr val="accent1">
                <a:shade val="9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Accuracy Score of Cat Boost Classifier is : 0.9952464837961021</a:t>
            </a:r>
            <a:endParaRPr lang="pl-PL" dirty="0"/>
          </a:p>
          <a:p>
            <a:endParaRPr lang="en-US" dirty="0"/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[[22562    18]</a:t>
            </a:r>
          </a:p>
          <a:p>
            <a:r>
              <a:rPr lang="en-US" dirty="0"/>
              <a:t> [  152 13031]]</a:t>
            </a:r>
            <a:endParaRPr lang="pl-PL" dirty="0"/>
          </a:p>
          <a:p>
            <a:endParaRPr lang="en-US" dirty="0"/>
          </a:p>
          <a:p>
            <a:r>
              <a:rPr lang="en-US" dirty="0"/>
              <a:t>Classification Report :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0       0.99      1.00      1.00     22580</a:t>
            </a:r>
          </a:p>
          <a:p>
            <a:r>
              <a:rPr lang="en-US" dirty="0"/>
              <a:t>           1       1.00      0.99      0.99     13183</a:t>
            </a:r>
          </a:p>
          <a:p>
            <a:endParaRPr lang="en-US" dirty="0"/>
          </a:p>
          <a:p>
            <a:r>
              <a:rPr lang="en-US" dirty="0"/>
              <a:t>    accuracy                           1.00     35763</a:t>
            </a:r>
          </a:p>
          <a:p>
            <a:r>
              <a:rPr lang="en-US" dirty="0"/>
              <a:t>   macro avg       1.00      0.99      0.99     35763</a:t>
            </a:r>
          </a:p>
          <a:p>
            <a:r>
              <a:rPr lang="en-US" dirty="0"/>
              <a:t>weighted avg       1.00      1.00      1.00     35763</a:t>
            </a:r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D444F1-DEF8-4260-8A24-5AEA1ADB7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5" y="1027462"/>
            <a:ext cx="5203333" cy="240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15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-104781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Porównanie modeli</a:t>
            </a:r>
            <a:endParaRPr lang="en-D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C6AF27-DE36-4CAA-904B-61D1ED5E7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82" y="602929"/>
            <a:ext cx="11384836" cy="565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869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2" y="-104781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Porównanie modeli</a:t>
            </a:r>
            <a:endParaRPr lang="en-D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C6AF27-DE36-4CAA-904B-61D1ED5E7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82" y="602929"/>
            <a:ext cx="11384836" cy="565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295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1" y="-30480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Macierz błędów najlepszego modelu - CatBoost</a:t>
            </a:r>
            <a:endParaRPr lang="en-D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08779C-44DE-474C-9030-3C466919F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20" y="627017"/>
            <a:ext cx="11542559" cy="573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85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B514-79A8-4588-96FA-C72BC3B5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431" y="-30480"/>
            <a:ext cx="9151136" cy="657497"/>
          </a:xfrm>
        </p:spPr>
        <p:txBody>
          <a:bodyPr>
            <a:normAutofit/>
          </a:bodyPr>
          <a:lstStyle/>
          <a:p>
            <a:r>
              <a:rPr lang="pl-PL" sz="2800" dirty="0"/>
              <a:t>Dlaczego CatBoost okazał się najlepszy</a:t>
            </a:r>
            <a:endParaRPr lang="en-DE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5D5DB-3111-4474-A8AA-C7F1AA659B12}"/>
              </a:ext>
            </a:extLst>
          </p:cNvPr>
          <p:cNvSpPr txBox="1"/>
          <p:nvPr/>
        </p:nvSpPr>
        <p:spPr>
          <a:xfrm>
            <a:off x="450667" y="685801"/>
            <a:ext cx="11371219" cy="59762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spcAft>
                <a:spcPts val="100"/>
              </a:spcAft>
            </a:pPr>
            <a:r>
              <a:rPr lang="pl-PL" sz="1400" dirty="0"/>
              <a:t>1. </a:t>
            </a:r>
            <a:r>
              <a:rPr lang="pl-PL" sz="1400" b="1" dirty="0"/>
              <a:t>Natywna i Optymalna Obsługa Danych Kategorycznych:</a:t>
            </a:r>
            <a:r>
              <a:rPr lang="pl-PL" sz="1400" dirty="0"/>
              <a:t> Zbiór `hotel_bookings` w znacznej części opiera się na danych </a:t>
            </a:r>
            <a:br>
              <a:rPr lang="pl-PL" sz="1400" dirty="0"/>
            </a:br>
            <a:r>
              <a:rPr lang="pl-PL" sz="1400" dirty="0"/>
              <a:t>jakościowych (np. `deposit_type`, `market_segment`). CatBoost stosuje zaawansowany mechanizm statystyk celu uporządkowanego </a:t>
            </a:r>
            <a:br>
              <a:rPr lang="pl-PL" sz="1400" dirty="0"/>
            </a:br>
            <a:r>
              <a:rPr lang="pl-PL" sz="1400" dirty="0"/>
              <a:t>(*Ordered Target Statistics*), który zapobiega wyciekowi danych (target leakage) podczas kodowania zmiennych, co daje mu przewagę nad </a:t>
            </a:r>
            <a:br>
              <a:rPr lang="pl-PL" sz="1400" dirty="0"/>
            </a:br>
            <a:r>
              <a:rPr lang="pl-PL" sz="1400" dirty="0"/>
              <a:t>tradycyjnym, ręcznym mapowaniem etykiet.</a:t>
            </a:r>
            <a:br>
              <a:rPr lang="pl-PL" sz="1400" dirty="0"/>
            </a:br>
            <a:endParaRPr lang="pl-PL" sz="1400" dirty="0"/>
          </a:p>
          <a:p>
            <a:pPr>
              <a:spcAft>
                <a:spcPts val="100"/>
              </a:spcAft>
            </a:pPr>
            <a:r>
              <a:rPr lang="pl-PL" sz="1400" dirty="0"/>
              <a:t>2.</a:t>
            </a:r>
            <a:r>
              <a:rPr lang="pl-PL" sz="1400" b="1" dirty="0"/>
              <a:t> Odporność na Przeuczenie (Ordered Boosting): </a:t>
            </a:r>
            <a:r>
              <a:rPr lang="pl-PL" sz="1400" dirty="0"/>
              <a:t>Klasyczne implementacje algorytmów Gradient Boosting (np. domyślny XGBoost czy </a:t>
            </a:r>
            <a:br>
              <a:rPr lang="pl-PL" sz="1400" dirty="0"/>
            </a:br>
            <a:r>
              <a:rPr lang="pl-PL" sz="1400" dirty="0"/>
              <a:t>LightGBM) bywają podatne na przeuczenie przy specyficznych strukturach danych. CatBoost rozwiązuje ten problem za pomocą autorskiej </a:t>
            </a:r>
            <a:br>
              <a:rPr lang="pl-PL" sz="1400" dirty="0"/>
            </a:br>
            <a:r>
              <a:rPr lang="pl-PL" sz="1400" dirty="0"/>
              <a:t>techniki *Ordered Boosting*, opartej na losowych permutacjach zbioru treningowego, co minimalizuje błąd przesunięcia predykcji (*prediction shift*).</a:t>
            </a:r>
            <a:br>
              <a:rPr lang="pl-PL" sz="1400" dirty="0"/>
            </a:br>
            <a:endParaRPr lang="pl-PL" sz="1400" dirty="0"/>
          </a:p>
          <a:p>
            <a:pPr>
              <a:spcAft>
                <a:spcPts val="100"/>
              </a:spcAft>
            </a:pPr>
            <a:r>
              <a:rPr lang="pl-PL" sz="1400" dirty="0"/>
              <a:t>3. </a:t>
            </a:r>
            <a:r>
              <a:rPr lang="pl-PL" sz="1400" b="1" dirty="0"/>
              <a:t>Symetryczne Drzewa Decyzyjne (Oblivious Trees): </a:t>
            </a:r>
            <a:r>
              <a:rPr lang="pl-PL" sz="1400" dirty="0"/>
              <a:t>CatBoost konstruuje tzw. drzewa zapominalskie (symetryczne), gdzie na każdym </a:t>
            </a:r>
            <a:br>
              <a:rPr lang="pl-PL" sz="1400" dirty="0"/>
            </a:br>
            <a:r>
              <a:rPr lang="pl-PL" sz="1400" dirty="0"/>
              <a:t>poziomie drzewa wykorzystywany jest dokładnie ten sam warunek podziału. Taka struktura działa jak silny regulator, czyni model wysoce stabilnym </a:t>
            </a:r>
            <a:br>
              <a:rPr lang="pl-PL" sz="1400" dirty="0"/>
            </a:br>
            <a:r>
              <a:rPr lang="pl-PL" sz="1400" dirty="0"/>
              <a:t>matematycznie i drastycznie przyspiesza wnioskowanie na zbiorze testowym.</a:t>
            </a:r>
            <a:br>
              <a:rPr lang="pl-PL" sz="1400" dirty="0"/>
            </a:br>
            <a:endParaRPr lang="pl-PL" sz="1400" dirty="0"/>
          </a:p>
          <a:p>
            <a:pPr>
              <a:spcAft>
                <a:spcPts val="100"/>
              </a:spcAft>
            </a:pPr>
            <a:r>
              <a:rPr lang="pl-PL" sz="1400" dirty="0"/>
              <a:t>4. </a:t>
            </a:r>
            <a:r>
              <a:rPr lang="pl-PL" sz="1400" b="1" dirty="0"/>
              <a:t>Wysoka Skuteczność na Parametrach Domyślnych: </a:t>
            </a:r>
            <a:r>
              <a:rPr lang="pl-PL" sz="1400" dirty="0"/>
              <a:t>Algorytm został zaprojektowany tak, aby osiągać optymalne rezultaty bez konieczności </a:t>
            </a:r>
            <a:br>
              <a:rPr lang="pl-PL" sz="1400" dirty="0"/>
            </a:br>
            <a:r>
              <a:rPr lang="pl-PL" sz="1400" dirty="0"/>
              <a:t>czasochłonnego strojenia hiperparametrów za pomocą siatki (GridSearch), co potwierdziło jego przewagę nad algorytmami takimi jak K-Najbliżsi </a:t>
            </a:r>
            <a:br>
              <a:rPr lang="pl-PL" sz="1400" dirty="0"/>
            </a:br>
            <a:r>
              <a:rPr lang="pl-PL" sz="1400" dirty="0"/>
              <a:t>Sąsiedzi czy Drzewa Decyzyjne.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21450276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270</TotalTime>
  <Words>1840</Words>
  <Application>Microsoft Office PowerPoint</Application>
  <PresentationFormat>Widescreen</PresentationFormat>
  <Paragraphs>260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Arial Nova Cond</vt:lpstr>
      <vt:lpstr>Calisto MT</vt:lpstr>
      <vt:lpstr>Wingdings 2</vt:lpstr>
      <vt:lpstr>Slate</vt:lpstr>
      <vt:lpstr>Projekt 3 - ML</vt:lpstr>
      <vt:lpstr>Odczyt danych</vt:lpstr>
      <vt:lpstr>Wizualizacja wartości null i zastąpienie ich zerami</vt:lpstr>
      <vt:lpstr>Wstępny preprocessing</vt:lpstr>
      <vt:lpstr>Eksploracyjna analiza danych</vt:lpstr>
      <vt:lpstr>Z jakiego kraju jest najwięcej gości?</vt:lpstr>
      <vt:lpstr>Ile goście płacą za noc w hotelu?</vt:lpstr>
      <vt:lpstr>Ceny hoteli w każdym miesiącu</vt:lpstr>
      <vt:lpstr>W których miesiącach jest najwięcej rezerwacji?</vt:lpstr>
      <vt:lpstr>Jak długo goście zostają w hotelach?</vt:lpstr>
      <vt:lpstr>Preprocessing danych</vt:lpstr>
      <vt:lpstr>Sprawdzenie korelacji dla rezerwacji odwołanych i odrzucenie nieznaczących kolumn</vt:lpstr>
      <vt:lpstr>Stworzenie kategorycznych i numerycznych ramek(dataframe)</vt:lpstr>
      <vt:lpstr>Konwersja dat</vt:lpstr>
      <vt:lpstr>Zakodowanie zmiennych kategorycznych</vt:lpstr>
      <vt:lpstr>Normalizacja zmiennych numerycznych</vt:lpstr>
      <vt:lpstr>Zastąpienie brakujących wartości „adr” średnią ze wszystkich danych</vt:lpstr>
      <vt:lpstr>Podział danych na testowe i szkoleniowe</vt:lpstr>
      <vt:lpstr>Budowanie modeli</vt:lpstr>
      <vt:lpstr>Logistic Regression</vt:lpstr>
      <vt:lpstr>Decision Tree Classifier</vt:lpstr>
      <vt:lpstr>Random Forest Classifier</vt:lpstr>
      <vt:lpstr>XgBoost Classifier</vt:lpstr>
      <vt:lpstr>Cat Boost Classifier</vt:lpstr>
      <vt:lpstr>Porównanie modeli</vt:lpstr>
      <vt:lpstr>Porównanie modeli</vt:lpstr>
      <vt:lpstr>Macierz błędów najlepszego modelu - CatBoost</vt:lpstr>
      <vt:lpstr>Dlaczego CatBoost okazał się najlepszy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Cancellation EDA and Predictio</dc:title>
  <dc:creator>rehorj facone</dc:creator>
  <cp:lastModifiedBy>rehorj facone</cp:lastModifiedBy>
  <cp:revision>23</cp:revision>
  <dcterms:created xsi:type="dcterms:W3CDTF">2026-06-03T08:41:46Z</dcterms:created>
  <dcterms:modified xsi:type="dcterms:W3CDTF">2026-06-03T13:12:28Z</dcterms:modified>
</cp:coreProperties>
</file>